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sldIdLst>
    <p:sldId id="256" r:id="rId2"/>
    <p:sldId id="257" r:id="rId3"/>
    <p:sldId id="258" r:id="rId4"/>
    <p:sldId id="259" r:id="rId5"/>
    <p:sldId id="266" r:id="rId6"/>
    <p:sldId id="267" r:id="rId7"/>
    <p:sldId id="269" r:id="rId8"/>
    <p:sldId id="270" r:id="rId9"/>
    <p:sldId id="271" r:id="rId10"/>
    <p:sldId id="272" r:id="rId11"/>
    <p:sldId id="273" r:id="rId12"/>
    <p:sldId id="275" r:id="rId13"/>
    <p:sldId id="260" r:id="rId14"/>
    <p:sldId id="268" r:id="rId15"/>
    <p:sldId id="276" r:id="rId16"/>
    <p:sldId id="277" r:id="rId17"/>
    <p:sldId id="274" r:id="rId18"/>
    <p:sldId id="278" r:id="rId19"/>
    <p:sldId id="279" r:id="rId20"/>
    <p:sldId id="284" r:id="rId21"/>
    <p:sldId id="283" r:id="rId22"/>
    <p:sldId id="261" r:id="rId23"/>
    <p:sldId id="262" r:id="rId24"/>
    <p:sldId id="264" r:id="rId25"/>
    <p:sldId id="265" r:id="rId2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2" d="100"/>
          <a:sy n="62" d="100"/>
        </p:scale>
        <p:origin x="1400" y="4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8466" y="-8468"/>
            <a:ext cx="9169804" cy="6874935"/>
            <a:chOff x="-8466" y="-8468"/>
            <a:chExt cx="9169804" cy="6874935"/>
          </a:xfrm>
        </p:grpSpPr>
        <p:cxnSp>
          <p:nvCxnSpPr>
            <p:cNvPr id="17" name="Straight Connector 16"/>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9" name="Freeform 18"/>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Freeform 19"/>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Freeform 20"/>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21"/>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Freeform 22"/>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Freeform 23"/>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Freeform 24"/>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Freeform 2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595" y="2404534"/>
            <a:ext cx="5826719"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130595" y="4050834"/>
            <a:ext cx="582671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pic>
        <p:nvPicPr>
          <p:cNvPr id="8" name="Graphic 7" descr="Airplane">
            <a:extLst>
              <a:ext uri="{FF2B5EF4-FFF2-40B4-BE49-F238E27FC236}">
                <a16:creationId xmlns:a16="http://schemas.microsoft.com/office/drawing/2014/main" id="{21252C8E-6F9E-9AAA-035D-D7C7E6DF661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5400000">
            <a:off x="79139" y="152400"/>
            <a:ext cx="691508" cy="914400"/>
          </a:xfrm>
          <a:prstGeom prst="rect">
            <a:avLst/>
          </a:prstGeom>
        </p:spPr>
      </p:pic>
      <p:pic>
        <p:nvPicPr>
          <p:cNvPr id="9" name="Graphic 8" descr="Helicopter">
            <a:extLst>
              <a:ext uri="{FF2B5EF4-FFF2-40B4-BE49-F238E27FC236}">
                <a16:creationId xmlns:a16="http://schemas.microsoft.com/office/drawing/2014/main" id="{A2245B3E-16FB-08E6-ED74-098297459B99}"/>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7314881" y="4175605"/>
            <a:ext cx="914400" cy="914400"/>
          </a:xfrm>
          <a:prstGeom prst="rect">
            <a:avLst/>
          </a:prstGeom>
        </p:spPr>
      </p:pic>
    </p:spTree>
    <p:extLst>
      <p:ext uri="{BB962C8B-B14F-4D97-AF65-F5344CB8AC3E}">
        <p14:creationId xmlns:p14="http://schemas.microsoft.com/office/powerpoint/2010/main" val="23716847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67239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598" y="2700868"/>
            <a:ext cx="6347715"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2086242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132080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609600" y="2160589"/>
            <a:ext cx="308810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69204" y="2160590"/>
            <a:ext cx="308811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12/20/2025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213164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132080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09599"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599"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66640"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3866640"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12/20/2025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0326258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4"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12/20/2025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170979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12/20/2025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526939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1498604"/>
            <a:ext cx="2790182"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3571275" y="514925"/>
            <a:ext cx="3386037"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09599" y="2777069"/>
            <a:ext cx="2790182"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104173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4800600"/>
            <a:ext cx="6347714"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 y="609600"/>
            <a:ext cx="6347714"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09599" y="5367338"/>
            <a:ext cx="6347714"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769077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600" y="4470400"/>
            <a:ext cx="6347714"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2238739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101074" y="3632200"/>
            <a:ext cx="541980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470400"/>
            <a:ext cx="6347715"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6867750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09598" y="1931988"/>
            <a:ext cx="6347715"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459152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24993421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15848" y="609600"/>
            <a:ext cx="6341465"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2143846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7317188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7312" y="609600"/>
            <a:ext cx="978812"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09599" y="609600"/>
            <a:ext cx="5195026" cy="525145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796643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21" Type="http://schemas.openxmlformats.org/officeDocument/2006/relationships/image" Target="../media/image4.sv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sv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8467" y="-8468"/>
            <a:ext cx="9169805" cy="6874935"/>
            <a:chOff x="-8467" y="-8468"/>
            <a:chExt cx="9169805" cy="6874935"/>
          </a:xfrm>
        </p:grpSpPr>
        <p:sp>
          <p:nvSpPr>
            <p:cNvPr id="7" name="Freeform 6"/>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8" name="Straight Connector 7"/>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1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16" name="Freeform 15"/>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09599" y="609600"/>
            <a:ext cx="6347713"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09599" y="2160590"/>
            <a:ext cx="6347714" cy="388077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5405258" y="6041363"/>
            <a:ext cx="684132"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BCAD085-E8A6-8845-BD4E-CB4CCA059FC4}" type="datetimeFigureOut">
              <a:rPr lang="en-US" smtClean="0"/>
              <a:t>12/20/2025</a:t>
            </a:fld>
            <a:endParaRPr lang="en-US"/>
          </a:p>
        </p:txBody>
      </p:sp>
      <p:sp>
        <p:nvSpPr>
          <p:cNvPr id="5" name="Footer Placeholder 4"/>
          <p:cNvSpPr>
            <a:spLocks noGrp="1"/>
          </p:cNvSpPr>
          <p:nvPr>
            <p:ph type="ftr" sz="quarter" idx="3"/>
          </p:nvPr>
        </p:nvSpPr>
        <p:spPr>
          <a:xfrm>
            <a:off x="609599" y="6041363"/>
            <a:ext cx="4622973"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44676" y="6041363"/>
            <a:ext cx="512638" cy="365125"/>
          </a:xfrm>
          <a:prstGeom prst="rect">
            <a:avLst/>
          </a:prstGeom>
        </p:spPr>
        <p:txBody>
          <a:bodyPr vert="horz" lIns="91440" tIns="45720" rIns="91440" bIns="45720" rtlCol="0" anchor="ctr"/>
          <a:lstStyle>
            <a:lvl1pPr algn="r">
              <a:defRPr sz="900">
                <a:solidFill>
                  <a:schemeClr val="accent1"/>
                </a:solidFill>
              </a:defRPr>
            </a:lvl1pPr>
          </a:lstStyle>
          <a:p>
            <a:fld id="{C1FF6DA9-008F-8B48-92A6-B652298478BF}" type="slidenum">
              <a:rPr lang="en-US" smtClean="0"/>
              <a:t>‹#›</a:t>
            </a:fld>
            <a:endParaRPr lang="en-US"/>
          </a:p>
        </p:txBody>
      </p:sp>
      <p:pic>
        <p:nvPicPr>
          <p:cNvPr id="30" name="Graphic 29" descr="Airplane">
            <a:extLst>
              <a:ext uri="{FF2B5EF4-FFF2-40B4-BE49-F238E27FC236}">
                <a16:creationId xmlns:a16="http://schemas.microsoft.com/office/drawing/2014/main" id="{43BB9D9C-A7AD-52CC-B13B-5F0D478ED558}"/>
              </a:ext>
            </a:extLst>
          </p:cNvPr>
          <p:cNvPicPr>
            <a:picLocks noChangeAspect="1"/>
          </p:cNvPicPr>
          <p:nvPr userDrawn="1"/>
        </p:nvPicPr>
        <p:blipFill>
          <a:blip r:embed="rId18">
            <a:extLst>
              <a:ext uri="{96DAC541-7B7A-43D3-8B79-37D633B846F1}">
                <asvg:svgBlip xmlns:asvg="http://schemas.microsoft.com/office/drawing/2016/SVG/main" r:embed="rId19"/>
              </a:ext>
            </a:extLst>
          </a:blip>
          <a:stretch>
            <a:fillRect/>
          </a:stretch>
        </p:blipFill>
        <p:spPr>
          <a:xfrm rot="5400000">
            <a:off x="79139" y="152400"/>
            <a:ext cx="691508" cy="914400"/>
          </a:xfrm>
          <a:prstGeom prst="rect">
            <a:avLst/>
          </a:prstGeom>
        </p:spPr>
      </p:pic>
      <p:pic>
        <p:nvPicPr>
          <p:cNvPr id="32" name="Graphic 31" descr="Helicopter">
            <a:extLst>
              <a:ext uri="{FF2B5EF4-FFF2-40B4-BE49-F238E27FC236}">
                <a16:creationId xmlns:a16="http://schemas.microsoft.com/office/drawing/2014/main" id="{F3D3E58A-C731-379B-A0B5-16EE1E94043F}"/>
              </a:ext>
            </a:extLst>
          </p:cNvPr>
          <p:cNvPicPr>
            <a:picLocks noChangeAspect="1"/>
          </p:cNvPicPr>
          <p:nvPr userDrawn="1"/>
        </p:nvPicPr>
        <p:blipFill>
          <a:blip r:embed="rId20">
            <a:extLst>
              <a:ext uri="{96DAC541-7B7A-43D3-8B79-37D633B846F1}">
                <asvg:svgBlip xmlns:asvg="http://schemas.microsoft.com/office/drawing/2016/SVG/main" r:embed="rId21"/>
              </a:ext>
            </a:extLst>
          </a:blip>
          <a:stretch>
            <a:fillRect/>
          </a:stretch>
        </p:blipFill>
        <p:spPr>
          <a:xfrm>
            <a:off x="7314881" y="4175605"/>
            <a:ext cx="914400" cy="914400"/>
          </a:xfrm>
          <a:prstGeom prst="rect">
            <a:avLst/>
          </a:prstGeom>
        </p:spPr>
      </p:pic>
    </p:spTree>
    <p:extLst>
      <p:ext uri="{BB962C8B-B14F-4D97-AF65-F5344CB8AC3E}">
        <p14:creationId xmlns:p14="http://schemas.microsoft.com/office/powerpoint/2010/main" val="311363595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72784" y="1243423"/>
            <a:ext cx="7772400" cy="1470025"/>
          </a:xfrm>
        </p:spPr>
        <p:txBody>
          <a:bodyPr>
            <a:noAutofit/>
          </a:bodyPr>
          <a:lstStyle/>
          <a:p>
            <a:pPr algn="ctr"/>
            <a:r>
              <a:rPr sz="4400" dirty="0">
                <a:latin typeface="Times New Roman" panose="02020603050405020304" pitchFamily="18" charset="0"/>
                <a:cs typeface="Times New Roman" panose="02020603050405020304" pitchFamily="18" charset="0"/>
              </a:rPr>
              <a:t>Aircraft </a:t>
            </a:r>
            <a:r>
              <a:rPr lang="en-US" sz="4400" dirty="0">
                <a:latin typeface="Times New Roman" panose="02020603050405020304" pitchFamily="18" charset="0"/>
                <a:cs typeface="Times New Roman" panose="02020603050405020304" pitchFamily="18" charset="0"/>
              </a:rPr>
              <a:t>With Lowest </a:t>
            </a:r>
            <a:r>
              <a:rPr sz="4400" dirty="0">
                <a:latin typeface="Times New Roman" panose="02020603050405020304" pitchFamily="18" charset="0"/>
                <a:cs typeface="Times New Roman" panose="02020603050405020304" pitchFamily="18" charset="0"/>
              </a:rPr>
              <a:t>Risk </a:t>
            </a:r>
            <a:r>
              <a:rPr lang="en-US" sz="4400" dirty="0">
                <a:latin typeface="Times New Roman" panose="02020603050405020304" pitchFamily="18" charset="0"/>
                <a:cs typeface="Times New Roman" panose="02020603050405020304" pitchFamily="18" charset="0"/>
              </a:rPr>
              <a:t>For Business Expansion</a:t>
            </a:r>
            <a:endParaRPr sz="4400" dirty="0">
              <a:latin typeface="Times New Roman" panose="02020603050405020304" pitchFamily="18" charset="0"/>
              <a:cs typeface="Times New Roman" panose="02020603050405020304" pitchFamily="18" charset="0"/>
            </a:endParaRPr>
          </a:p>
          <a:p>
            <a:pPr algn="ctr"/>
            <a:r>
              <a:rPr sz="4400" dirty="0">
                <a:latin typeface="Times New Roman" panose="02020603050405020304" pitchFamily="18" charset="0"/>
                <a:cs typeface="Times New Roman" panose="02020603050405020304" pitchFamily="18" charset="0"/>
              </a:rPr>
              <a:t>Phase 1 Project</a:t>
            </a:r>
          </a:p>
        </p:txBody>
      </p:sp>
      <p:sp>
        <p:nvSpPr>
          <p:cNvPr id="3" name="Subtitle 2"/>
          <p:cNvSpPr>
            <a:spLocks noGrp="1"/>
          </p:cNvSpPr>
          <p:nvPr>
            <p:ph type="subTitle" idx="1"/>
          </p:nvPr>
        </p:nvSpPr>
        <p:spPr>
          <a:xfrm>
            <a:off x="1258584" y="3268253"/>
            <a:ext cx="6400800" cy="1752600"/>
          </a:xfrm>
        </p:spPr>
        <p:txBody>
          <a:bodyPr>
            <a:normAutofit/>
          </a:bodyPr>
          <a:lstStyle/>
          <a:p>
            <a:r>
              <a:rPr dirty="0">
                <a:latin typeface="Times New Roman" panose="02020603050405020304" pitchFamily="18" charset="0"/>
                <a:cs typeface="Times New Roman" panose="02020603050405020304" pitchFamily="18" charset="0"/>
              </a:rPr>
              <a:t>Business Risk Assessment for Commercial &amp; Private Aircraft</a:t>
            </a:r>
            <a:r>
              <a:rPr lang="en-US" dirty="0">
                <a:latin typeface="Times New Roman" panose="02020603050405020304" pitchFamily="18" charset="0"/>
                <a:cs typeface="Times New Roman" panose="02020603050405020304" pitchFamily="18" charset="0"/>
              </a:rPr>
              <a:t> Purchase and Operation</a:t>
            </a:r>
            <a:endParaRPr dirty="0">
              <a:latin typeface="Times New Roman" panose="02020603050405020304" pitchFamily="18" charset="0"/>
              <a:cs typeface="Times New Roman" panose="02020603050405020304" pitchFamily="18" charset="0"/>
            </a:endParaRPr>
          </a:p>
          <a:p>
            <a:endParaRPr dirty="0">
              <a:latin typeface="Times New Roman" panose="02020603050405020304" pitchFamily="18" charset="0"/>
              <a:cs typeface="Times New Roman" panose="02020603050405020304" pitchFamily="18" charset="0"/>
            </a:endParaRPr>
          </a:p>
          <a:p>
            <a:r>
              <a:rPr dirty="0">
                <a:latin typeface="Times New Roman" panose="02020603050405020304" pitchFamily="18" charset="0"/>
                <a:cs typeface="Times New Roman" panose="02020603050405020304" pitchFamily="18" charset="0"/>
              </a:rPr>
              <a:t>A</a:t>
            </a:r>
            <a:r>
              <a:rPr lang="en-US" dirty="0">
                <a:latin typeface="Times New Roman" panose="02020603050405020304" pitchFamily="18" charset="0"/>
                <a:cs typeface="Times New Roman" panose="02020603050405020304" pitchFamily="18" charset="0"/>
              </a:rPr>
              <a:t>BEL ALEU CHOL GARANG</a:t>
            </a:r>
            <a:r>
              <a:rPr dirty="0">
                <a:latin typeface="Times New Roman" panose="02020603050405020304" pitchFamily="18" charset="0"/>
                <a:cs typeface="Times New Roman" panose="02020603050405020304" pitchFamily="18" charset="0"/>
              </a:rPr>
              <a:t> | </a:t>
            </a:r>
            <a:r>
              <a:rPr lang="en-US" dirty="0">
                <a:latin typeface="Times New Roman" panose="02020603050405020304" pitchFamily="18" charset="0"/>
                <a:cs typeface="Times New Roman" panose="02020603050405020304" pitchFamily="18" charset="0"/>
              </a:rPr>
              <a:t>20.12.2025</a:t>
            </a:r>
            <a:endParaRPr dirty="0">
              <a:latin typeface="Times New Roman" panose="02020603050405020304" pitchFamily="18" charset="0"/>
              <a:cs typeface="Times New Roman" panose="02020603050405020304" pitchFamily="18" charset="0"/>
            </a:endParaRPr>
          </a:p>
          <a:p>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dirty="0">
                <a:latin typeface="Times New Roman" panose="02020603050405020304" pitchFamily="18" charset="0"/>
                <a:cs typeface="Times New Roman" panose="02020603050405020304" pitchFamily="18" charset="0"/>
              </a:rPr>
              <a:t>Business Understanding</a:t>
            </a:r>
          </a:p>
        </p:txBody>
      </p:sp>
      <p:sp>
        <p:nvSpPr>
          <p:cNvPr id="3" name="Content Placeholder 2"/>
          <p:cNvSpPr>
            <a:spLocks noGrp="1"/>
          </p:cNvSpPr>
          <p:nvPr>
            <p:ph idx="1"/>
          </p:nvPr>
        </p:nvSpPr>
        <p:spPr/>
        <p:txBody>
          <a:bodyPr>
            <a:normAutofit lnSpcReduction="10000"/>
          </a:bodyPr>
          <a:lstStyle/>
          <a:p>
            <a:pPr marL="0" indent="0">
              <a:buNone/>
            </a:pPr>
            <a:r>
              <a:rPr b="1" dirty="0">
                <a:latin typeface="Times New Roman" panose="02020603050405020304" pitchFamily="18" charset="0"/>
                <a:cs typeface="Times New Roman" panose="02020603050405020304" pitchFamily="18" charset="0"/>
              </a:rPr>
              <a:t>Business Goal: </a:t>
            </a:r>
            <a:r>
              <a:rPr dirty="0">
                <a:latin typeface="Times New Roman" panose="02020603050405020304" pitchFamily="18" charset="0"/>
                <a:cs typeface="Times New Roman" panose="02020603050405020304" pitchFamily="18" charset="0"/>
              </a:rPr>
              <a:t>Identify lowest-risk aircraft for new aviation investment</a:t>
            </a:r>
          </a:p>
          <a:p>
            <a:pPr marL="0" indent="0">
              <a:buNone/>
            </a:pPr>
            <a:r>
              <a:rPr b="1" dirty="0">
                <a:latin typeface="Times New Roman" panose="02020603050405020304" pitchFamily="18" charset="0"/>
                <a:cs typeface="Times New Roman" panose="02020603050405020304" pitchFamily="18" charset="0"/>
              </a:rPr>
              <a:t>Stakeholder</a:t>
            </a:r>
            <a:r>
              <a:rPr dirty="0">
                <a:latin typeface="Times New Roman" panose="02020603050405020304" pitchFamily="18" charset="0"/>
                <a:cs typeface="Times New Roman" panose="02020603050405020304" pitchFamily="18" charset="0"/>
              </a:rPr>
              <a:t>: Head of Aviation Division</a:t>
            </a:r>
          </a:p>
          <a:p>
            <a:endParaRPr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Key Business Objectives</a:t>
            </a: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 Focus on commercial and private aircraft  </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 Evaluate aircraft safety records to support acquisition decisions  </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Translate findings into actionable insights  </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Ensure investment in aircraft with proven safety records  </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Reduce insurance costs and operational downtime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dirty="0">
                <a:latin typeface="Times New Roman" panose="02020603050405020304" pitchFamily="18" charset="0"/>
                <a:cs typeface="Times New Roman" panose="02020603050405020304" pitchFamily="18" charset="0"/>
              </a:rPr>
              <a:t>Data Understanding</a:t>
            </a:r>
          </a:p>
        </p:txBody>
      </p:sp>
      <p:sp>
        <p:nvSpPr>
          <p:cNvPr id="3" name="Content Placeholder 2"/>
          <p:cNvSpPr>
            <a:spLocks noGrp="1"/>
          </p:cNvSpPr>
          <p:nvPr>
            <p:ph idx="1"/>
          </p:nvPr>
        </p:nvSpPr>
        <p:spPr>
          <a:xfrm>
            <a:off x="609599" y="1549668"/>
            <a:ext cx="6347714" cy="4491696"/>
          </a:xfrm>
        </p:spPr>
        <p:txBody>
          <a:bodyPr>
            <a:noAutofit/>
          </a:bodyPr>
          <a:lstStyle/>
          <a:p>
            <a:pPr marL="0" indent="0">
              <a:buNone/>
            </a:pPr>
            <a:r>
              <a:rPr sz="1600" b="1" dirty="0">
                <a:latin typeface="Times New Roman" panose="02020603050405020304" pitchFamily="18" charset="0"/>
                <a:cs typeface="Times New Roman" panose="02020603050405020304" pitchFamily="18" charset="0"/>
              </a:rPr>
              <a:t>Source</a:t>
            </a:r>
            <a:r>
              <a:rPr sz="1600" dirty="0">
                <a:latin typeface="Times New Roman" panose="02020603050405020304" pitchFamily="18" charset="0"/>
                <a:cs typeface="Times New Roman" panose="02020603050405020304" pitchFamily="18" charset="0"/>
              </a:rPr>
              <a:t>: NTSB Aviation Accident Dataset (1962–2023)</a:t>
            </a:r>
          </a:p>
          <a:p>
            <a:pPr marL="0" indent="0">
              <a:buNone/>
            </a:pPr>
            <a:r>
              <a:rPr sz="1600" b="1" dirty="0">
                <a:latin typeface="Times New Roman" panose="02020603050405020304" pitchFamily="18" charset="0"/>
                <a:cs typeface="Times New Roman" panose="02020603050405020304" pitchFamily="18" charset="0"/>
              </a:rPr>
              <a:t>Coverage: </a:t>
            </a:r>
            <a:r>
              <a:rPr sz="1600" dirty="0">
                <a:latin typeface="Times New Roman" panose="02020603050405020304" pitchFamily="18" charset="0"/>
                <a:cs typeface="Times New Roman" panose="02020603050405020304" pitchFamily="18" charset="0"/>
              </a:rPr>
              <a:t>Civil aviation accidents &amp; incidents</a:t>
            </a:r>
          </a:p>
          <a:p>
            <a:pPr marL="0" indent="0">
              <a:buNone/>
            </a:pPr>
            <a:r>
              <a:rPr lang="en-US" sz="1600" b="1" dirty="0">
                <a:latin typeface="Times New Roman" panose="02020603050405020304" pitchFamily="18" charset="0"/>
                <a:cs typeface="Times New Roman" panose="02020603050405020304" pitchFamily="18" charset="0"/>
              </a:rPr>
              <a:t>Key Variables Used</a:t>
            </a:r>
            <a:endParaRPr lang="en-US" sz="1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Aircraft Make and Model</a:t>
            </a:r>
          </a:p>
          <a:p>
            <a:pPr>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Injury Severity</a:t>
            </a:r>
          </a:p>
          <a:p>
            <a:pPr>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Fatal Injuries count</a:t>
            </a:r>
          </a:p>
          <a:p>
            <a:pPr>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Aircraft Category</a:t>
            </a:r>
          </a:p>
          <a:p>
            <a:pPr>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Purpose of Flight</a:t>
            </a:r>
          </a:p>
          <a:p>
            <a:pPr>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Event Date</a:t>
            </a:r>
          </a:p>
          <a:p>
            <a:pPr marL="0" indent="0">
              <a:buNone/>
            </a:pPr>
            <a:r>
              <a:rPr lang="en-US" sz="1600" b="1" dirty="0">
                <a:latin typeface="Times New Roman" panose="02020603050405020304" pitchFamily="18" charset="0"/>
                <a:cs typeface="Times New Roman" panose="02020603050405020304" pitchFamily="18" charset="0"/>
              </a:rPr>
              <a:t>Dataset Summary:</a:t>
            </a:r>
            <a:endParaRPr lang="en-US" sz="1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Over 60 years of historical aviation safety data</a:t>
            </a:r>
          </a:p>
          <a:p>
            <a:pPr>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Includes both </a:t>
            </a:r>
            <a:r>
              <a:rPr lang="en-US" sz="1600" b="1" dirty="0">
                <a:latin typeface="Times New Roman" panose="02020603050405020304" pitchFamily="18" charset="0"/>
                <a:cs typeface="Times New Roman" panose="02020603050405020304" pitchFamily="18" charset="0"/>
              </a:rPr>
              <a:t>fatal and non-fatal</a:t>
            </a:r>
            <a:r>
              <a:rPr lang="en-US" sz="1600" dirty="0">
                <a:latin typeface="Times New Roman" panose="02020603050405020304" pitchFamily="18" charset="0"/>
                <a:cs typeface="Times New Roman" panose="02020603050405020304" pitchFamily="18" charset="0"/>
              </a:rPr>
              <a:t> accidents</a:t>
            </a:r>
          </a:p>
          <a:p>
            <a:pPr>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Enables comparison of aircraft safety performance across categories and use cases.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Data Cleaning &amp; Preparation</a:t>
            </a:r>
            <a:endParaRPr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200" y="1417638"/>
            <a:ext cx="8229600" cy="4708526"/>
          </a:xfrm>
        </p:spPr>
        <p:txBody>
          <a:bodyPr>
            <a:normAutofit fontScale="70000" lnSpcReduction="20000"/>
          </a:bodyPr>
          <a:lstStyle/>
          <a:p>
            <a:pPr marL="0" indent="0">
              <a:buNone/>
            </a:pPr>
            <a:r>
              <a:rPr lang="en-US" b="1" dirty="0">
                <a:latin typeface="Times New Roman" panose="02020603050405020304" pitchFamily="18" charset="0"/>
                <a:cs typeface="Times New Roman" panose="02020603050405020304" pitchFamily="18" charset="0"/>
              </a:rPr>
              <a:t>Tools Used to clean data:</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Python (pandas)</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Key Data Preparation Steps:</a:t>
            </a: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Removed irrelevant and duplicate records</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Handled missing values in injury and aircraft fields</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Standardized aircraft make and model names</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Aggregated accident records by Aircraft Make and Model</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Created a Fatal Accident Flag</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Calculated a Composite Risk Score for each aircraft</a:t>
            </a:r>
          </a:p>
          <a:p>
            <a:pPr marL="0" indent="0">
              <a:buNone/>
            </a:pPr>
            <a:r>
              <a:rPr lang="en-US" b="1" dirty="0">
                <a:latin typeface="Times New Roman" panose="02020603050405020304" pitchFamily="18" charset="0"/>
                <a:cs typeface="Times New Roman" panose="02020603050405020304" pitchFamily="18" charset="0"/>
              </a:rPr>
              <a:t>Outcome: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A clean, analysis-ready dataset suitable for risk assessment and visualization</a:t>
            </a:r>
          </a:p>
          <a:p>
            <a:endParaRPr dirty="0">
              <a:latin typeface="Times New Roman" panose="02020603050405020304" pitchFamily="18" charset="0"/>
              <a:cs typeface="Times New Roman" panose="02020603050405020304" pitchFamily="18" charset="0"/>
            </a:endParaRPr>
          </a:p>
          <a:p>
            <a:pPr marL="0" indent="0">
              <a:buNone/>
            </a:pPr>
            <a:r>
              <a:rPr b="1" dirty="0">
                <a:latin typeface="Times New Roman" panose="02020603050405020304" pitchFamily="18" charset="0"/>
                <a:cs typeface="Times New Roman" panose="02020603050405020304" pitchFamily="18" charset="0"/>
              </a:rPr>
              <a:t>Key Steps:</a:t>
            </a:r>
          </a:p>
          <a:p>
            <a:pPr>
              <a:buFont typeface="Wingdings" panose="05000000000000000000" pitchFamily="2" charset="2"/>
              <a:buChar char="Ø"/>
            </a:pPr>
            <a:r>
              <a:rPr dirty="0">
                <a:latin typeface="Times New Roman" panose="02020603050405020304" pitchFamily="18" charset="0"/>
                <a:cs typeface="Times New Roman" panose="02020603050405020304" pitchFamily="18" charset="0"/>
              </a:rPr>
              <a:t>Missing value handling</a:t>
            </a:r>
          </a:p>
          <a:p>
            <a:pPr>
              <a:buFont typeface="Wingdings" panose="05000000000000000000" pitchFamily="2" charset="2"/>
              <a:buChar char="Ø"/>
            </a:pPr>
            <a:r>
              <a:rPr dirty="0">
                <a:latin typeface="Times New Roman" panose="02020603050405020304" pitchFamily="18" charset="0"/>
                <a:cs typeface="Times New Roman" panose="02020603050405020304" pitchFamily="18" charset="0"/>
              </a:rPr>
              <a:t>Aggregation by aircraft model</a:t>
            </a:r>
          </a:p>
          <a:p>
            <a:pPr>
              <a:buFont typeface="Wingdings" panose="05000000000000000000" pitchFamily="2" charset="2"/>
              <a:buChar char="Ø"/>
            </a:pPr>
            <a:r>
              <a:rPr dirty="0">
                <a:latin typeface="Times New Roman" panose="02020603050405020304" pitchFamily="18" charset="0"/>
                <a:cs typeface="Times New Roman" panose="02020603050405020304" pitchFamily="18" charset="0"/>
              </a:rPr>
              <a:t>Risk Score &amp; Fatal Accident Flag creation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8092E6-845E-6CC2-1816-C3B3A9BD47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A6E7CC-60EE-29C8-BF0A-5934515268D3}"/>
              </a:ext>
            </a:extLst>
          </p:cNvPr>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Exploratory Data Analysis</a:t>
            </a:r>
          </a:p>
        </p:txBody>
      </p:sp>
      <p:sp>
        <p:nvSpPr>
          <p:cNvPr id="3" name="Content Placeholder 2">
            <a:extLst>
              <a:ext uri="{FF2B5EF4-FFF2-40B4-BE49-F238E27FC236}">
                <a16:creationId xmlns:a16="http://schemas.microsoft.com/office/drawing/2014/main" id="{4953293E-542F-AABD-1CC3-4EA356201E99}"/>
              </a:ext>
            </a:extLst>
          </p:cNvPr>
          <p:cNvSpPr>
            <a:spLocks noGrp="1"/>
          </p:cNvSpPr>
          <p:nvPr>
            <p:ph idx="1"/>
          </p:nvPr>
        </p:nvSpPr>
        <p:spPr>
          <a:xfrm>
            <a:off x="609598" y="1698577"/>
            <a:ext cx="6347714" cy="3880773"/>
          </a:xfrm>
        </p:spPr>
        <p:txBody>
          <a:bodyPr>
            <a:normAutofit/>
          </a:bodyPr>
          <a:lstStyle/>
          <a:p>
            <a:pPr marL="0" indent="0">
              <a:buNone/>
            </a:pPr>
            <a:r>
              <a:rPr lang="en-US" b="1" dirty="0">
                <a:latin typeface="Times New Roman" panose="02020603050405020304" pitchFamily="18" charset="0"/>
                <a:cs typeface="Times New Roman" panose="02020603050405020304" pitchFamily="18" charset="0"/>
              </a:rPr>
              <a:t>Exploratory Data Analysis</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We explored historical aviation accident data to understand:</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How accidents are distributed over time</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Differences between aircraft categories</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Fatal vs non-fatal accident patterns</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Key risk indicators that influence aircraft safety</a:t>
            </a:r>
          </a:p>
          <a:p>
            <a:pPr marL="0" indent="0">
              <a:buNone/>
            </a:pPr>
            <a:r>
              <a:rPr lang="en-US" b="1" dirty="0">
                <a:latin typeface="Times New Roman" panose="02020603050405020304" pitchFamily="18" charset="0"/>
                <a:cs typeface="Times New Roman" panose="02020603050405020304" pitchFamily="18" charset="0"/>
              </a:rPr>
              <a:t>Purpose: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Identify patterns that inform aircraft risk assessment and purchasing decisions.</a:t>
            </a:r>
          </a:p>
        </p:txBody>
      </p:sp>
    </p:spTree>
    <p:extLst>
      <p:ext uri="{BB962C8B-B14F-4D97-AF65-F5344CB8AC3E}">
        <p14:creationId xmlns:p14="http://schemas.microsoft.com/office/powerpoint/2010/main" val="10746754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A03BE5-96D3-5D28-2E29-0C66E37FA5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430039-819D-986C-2BFA-B2A939FA2F89}"/>
              </a:ext>
            </a:extLst>
          </p:cNvPr>
          <p:cNvSpPr>
            <a:spLocks noGrp="1"/>
          </p:cNvSpPr>
          <p:nvPr>
            <p:ph type="title"/>
          </p:nvPr>
        </p:nvSpPr>
        <p:spPr>
          <a:xfrm>
            <a:off x="457200" y="274638"/>
            <a:ext cx="8229600" cy="608940"/>
          </a:xfrm>
        </p:spPr>
        <p:txBody>
          <a:bodyPr>
            <a:normAutofit/>
          </a:bodyPr>
          <a:lstStyle/>
          <a:p>
            <a:pPr algn="ctr"/>
            <a:r>
              <a:rPr lang="en-US" sz="2800" b="1" dirty="0">
                <a:latin typeface="Times New Roman" panose="02020603050405020304" pitchFamily="18" charset="0"/>
                <a:cs typeface="Times New Roman" panose="02020603050405020304" pitchFamily="18" charset="0"/>
              </a:rPr>
              <a:t>Accident Frequency by Aircraft Category</a:t>
            </a:r>
          </a:p>
        </p:txBody>
      </p:sp>
      <p:pic>
        <p:nvPicPr>
          <p:cNvPr id="10" name="Content Placeholder 9">
            <a:extLst>
              <a:ext uri="{FF2B5EF4-FFF2-40B4-BE49-F238E27FC236}">
                <a16:creationId xmlns:a16="http://schemas.microsoft.com/office/drawing/2014/main" id="{700A2616-8350-D1DB-3694-96BFB2828617}"/>
              </a:ext>
            </a:extLst>
          </p:cNvPr>
          <p:cNvPicPr>
            <a:picLocks noGrp="1" noChangeAspect="1"/>
          </p:cNvPicPr>
          <p:nvPr>
            <p:ph idx="1"/>
          </p:nvPr>
        </p:nvPicPr>
        <p:blipFill>
          <a:blip r:embed="rId2"/>
          <a:stretch>
            <a:fillRect/>
          </a:stretch>
        </p:blipFill>
        <p:spPr>
          <a:xfrm>
            <a:off x="609600" y="2279887"/>
            <a:ext cx="6348413" cy="3642839"/>
          </a:xfrm>
        </p:spPr>
      </p:pic>
      <p:sp>
        <p:nvSpPr>
          <p:cNvPr id="3" name="Title 1">
            <a:extLst>
              <a:ext uri="{FF2B5EF4-FFF2-40B4-BE49-F238E27FC236}">
                <a16:creationId xmlns:a16="http://schemas.microsoft.com/office/drawing/2014/main" id="{92FD9E20-339C-4CF2-0A77-690C5BB5E6A6}"/>
              </a:ext>
            </a:extLst>
          </p:cNvPr>
          <p:cNvSpPr txBox="1">
            <a:spLocks/>
          </p:cNvSpPr>
          <p:nvPr/>
        </p:nvSpPr>
        <p:spPr>
          <a:xfrm>
            <a:off x="457200" y="891151"/>
            <a:ext cx="8229600" cy="608940"/>
          </a:xfrm>
          <a:prstGeom prst="rect">
            <a:avLst/>
          </a:prstGeom>
        </p:spPr>
        <p:txBody>
          <a:bodyPr vert="horz" lIns="91440" tIns="45720" rIns="91440" bIns="45720" rtlCol="0" anchor="ctr">
            <a:normAutofit fontScale="47500" lnSpcReduction="20000"/>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marL="571500" indent="-571500" algn="l">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Certain aircraft categories account for a disproportionately high number of accidents, highlighting category-level risk differences.</a:t>
            </a:r>
          </a:p>
          <a:p>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5578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B77055-3C86-9E3D-EF60-8C97EDF987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99789F-152D-F1D7-6B55-B156D8C6A965}"/>
              </a:ext>
            </a:extLst>
          </p:cNvPr>
          <p:cNvSpPr>
            <a:spLocks noGrp="1"/>
          </p:cNvSpPr>
          <p:nvPr>
            <p:ph type="title"/>
          </p:nvPr>
        </p:nvSpPr>
        <p:spPr>
          <a:xfrm>
            <a:off x="457200" y="514114"/>
            <a:ext cx="8229600" cy="544531"/>
          </a:xfrm>
        </p:spPr>
        <p:txBody>
          <a:bodyPr>
            <a:normAutofit fontScale="90000"/>
          </a:bodyPr>
          <a:lstStyle/>
          <a:p>
            <a:r>
              <a:rPr lang="en-US" dirty="0">
                <a:latin typeface="Times New Roman" panose="02020603050405020304" pitchFamily="18" charset="0"/>
                <a:cs typeface="Times New Roman" panose="02020603050405020304" pitchFamily="18" charset="0"/>
              </a:rPr>
              <a:t>Aviation Accidents Over Time</a:t>
            </a:r>
            <a:br>
              <a:rPr lang="en-US" dirty="0"/>
            </a:br>
            <a:endParaRPr dirty="0"/>
          </a:p>
        </p:txBody>
      </p:sp>
      <p:pic>
        <p:nvPicPr>
          <p:cNvPr id="6" name="Content Placeholder 5">
            <a:extLst>
              <a:ext uri="{FF2B5EF4-FFF2-40B4-BE49-F238E27FC236}">
                <a16:creationId xmlns:a16="http://schemas.microsoft.com/office/drawing/2014/main" id="{45F45991-898D-D9EC-0F98-FE353B93B0F1}"/>
              </a:ext>
            </a:extLst>
          </p:cNvPr>
          <p:cNvPicPr>
            <a:picLocks noGrp="1" noChangeAspect="1"/>
          </p:cNvPicPr>
          <p:nvPr>
            <p:ph idx="1"/>
          </p:nvPr>
        </p:nvPicPr>
        <p:blipFill>
          <a:blip r:embed="rId2"/>
          <a:stretch>
            <a:fillRect/>
          </a:stretch>
        </p:blipFill>
        <p:spPr>
          <a:xfrm>
            <a:off x="609600" y="2397690"/>
            <a:ext cx="6348413" cy="3407233"/>
          </a:xfrm>
        </p:spPr>
      </p:pic>
      <p:sp>
        <p:nvSpPr>
          <p:cNvPr id="3" name="Title 1">
            <a:extLst>
              <a:ext uri="{FF2B5EF4-FFF2-40B4-BE49-F238E27FC236}">
                <a16:creationId xmlns:a16="http://schemas.microsoft.com/office/drawing/2014/main" id="{4A7F4B28-2D33-F97B-7D78-0404CA06CD20}"/>
              </a:ext>
            </a:extLst>
          </p:cNvPr>
          <p:cNvSpPr txBox="1">
            <a:spLocks/>
          </p:cNvSpPr>
          <p:nvPr/>
        </p:nvSpPr>
        <p:spPr>
          <a:xfrm>
            <a:off x="409074" y="1312342"/>
            <a:ext cx="8229600" cy="544531"/>
          </a:xfrm>
          <a:prstGeom prst="rect">
            <a:avLst/>
          </a:prstGeom>
        </p:spPr>
        <p:txBody>
          <a:bodyPr vert="horz" lIns="91440" tIns="45720" rIns="91440" bIns="45720" rtlCol="0" anchor="ctr">
            <a:normAutofit fontScale="25000" lnSpcReduction="20000"/>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marL="571500" indent="-571500">
              <a:buFont typeface="Wingdings" panose="05000000000000000000" pitchFamily="2" charset="2"/>
              <a:buChar char="Ø"/>
            </a:pPr>
            <a:r>
              <a:rPr lang="en-US" sz="8000" dirty="0">
                <a:latin typeface="Times New Roman" panose="02020603050405020304" pitchFamily="18" charset="0"/>
                <a:cs typeface="Times New Roman" panose="02020603050405020304" pitchFamily="18" charset="0"/>
              </a:rPr>
              <a:t>Accident frequency has declined over time, suggesting improvements in aviation safety standards and technology</a:t>
            </a:r>
            <a:r>
              <a:rPr lang="en-US" dirty="0">
                <a:latin typeface="Times New Roman" panose="02020603050405020304" pitchFamily="18" charset="0"/>
                <a:cs typeface="Times New Roman" panose="02020603050405020304" pitchFamily="18" charset="0"/>
              </a:rPr>
              <a:t>.</a:t>
            </a:r>
          </a:p>
          <a:p>
            <a:pPr algn="l"/>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432858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4926EC-D7F3-958E-E010-AC77C63D5B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1BC231-8EEE-88CB-E629-A9D6E5160244}"/>
              </a:ext>
            </a:extLst>
          </p:cNvPr>
          <p:cNvSpPr>
            <a:spLocks noGrp="1"/>
          </p:cNvSpPr>
          <p:nvPr>
            <p:ph type="title"/>
          </p:nvPr>
        </p:nvSpPr>
        <p:spPr>
          <a:xfrm>
            <a:off x="457200" y="573970"/>
            <a:ext cx="8229600" cy="598665"/>
          </a:xfrm>
        </p:spPr>
        <p:txBody>
          <a:bodyPr>
            <a:normAutofit fontScale="90000"/>
          </a:bodyPr>
          <a:lstStyle/>
          <a:p>
            <a:r>
              <a:rPr lang="en-US" dirty="0">
                <a:latin typeface="Times New Roman" panose="02020603050405020304" pitchFamily="18" charset="0"/>
                <a:cs typeface="Times New Roman" panose="02020603050405020304" pitchFamily="18" charset="0"/>
              </a:rPr>
              <a:t>Aircraft Make Risk Exposure</a:t>
            </a:r>
            <a:br>
              <a:rPr lang="en-US" dirty="0"/>
            </a:br>
            <a:endParaRPr dirty="0"/>
          </a:p>
        </p:txBody>
      </p:sp>
      <p:pic>
        <p:nvPicPr>
          <p:cNvPr id="6" name="Content Placeholder 5">
            <a:extLst>
              <a:ext uri="{FF2B5EF4-FFF2-40B4-BE49-F238E27FC236}">
                <a16:creationId xmlns:a16="http://schemas.microsoft.com/office/drawing/2014/main" id="{7FC7D3CE-8459-250E-0EF1-CDAC65545597}"/>
              </a:ext>
            </a:extLst>
          </p:cNvPr>
          <p:cNvPicPr>
            <a:picLocks noGrp="1" noChangeAspect="1"/>
          </p:cNvPicPr>
          <p:nvPr>
            <p:ph idx="1"/>
          </p:nvPr>
        </p:nvPicPr>
        <p:blipFill>
          <a:blip r:embed="rId2"/>
          <a:stretch>
            <a:fillRect/>
          </a:stretch>
        </p:blipFill>
        <p:spPr>
          <a:xfrm>
            <a:off x="609600" y="2286135"/>
            <a:ext cx="6348413" cy="3630342"/>
          </a:xfrm>
        </p:spPr>
      </p:pic>
      <p:sp>
        <p:nvSpPr>
          <p:cNvPr id="3" name="Title 1">
            <a:extLst>
              <a:ext uri="{FF2B5EF4-FFF2-40B4-BE49-F238E27FC236}">
                <a16:creationId xmlns:a16="http://schemas.microsoft.com/office/drawing/2014/main" id="{37678D3E-8E99-7590-939C-8F09F7FC0058}"/>
              </a:ext>
            </a:extLst>
          </p:cNvPr>
          <p:cNvSpPr txBox="1">
            <a:spLocks/>
          </p:cNvSpPr>
          <p:nvPr/>
        </p:nvSpPr>
        <p:spPr>
          <a:xfrm>
            <a:off x="457200" y="1430052"/>
            <a:ext cx="8229600" cy="598665"/>
          </a:xfrm>
          <a:prstGeom prst="rect">
            <a:avLst/>
          </a:prstGeom>
        </p:spPr>
        <p:txBody>
          <a:bodyPr vert="horz" lIns="91440" tIns="45720" rIns="91440" bIns="45720" rtlCol="0" anchor="ctr">
            <a:normAutofit fontScale="25000" lnSpcReduction="20000"/>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marL="571500" indent="-571500">
              <a:buFont typeface="Wingdings" panose="05000000000000000000" pitchFamily="2" charset="2"/>
              <a:buChar char="Ø"/>
            </a:pPr>
            <a:r>
              <a:rPr lang="en-US" sz="8000" dirty="0">
                <a:latin typeface="Times New Roman" panose="02020603050405020304" pitchFamily="18" charset="0"/>
                <a:cs typeface="Times New Roman" panose="02020603050405020304" pitchFamily="18" charset="0"/>
              </a:rPr>
              <a:t>High accident counts often reflect higher usage, not necessarily poor safety requiring normalization during risk scoring.</a:t>
            </a:r>
          </a:p>
          <a:p>
            <a:pPr algn="l"/>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794685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3806D5-DD6C-3D83-1A93-D80C33EDDD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3235F5-6A5C-F9E2-0373-21190B96CF36}"/>
              </a:ext>
            </a:extLst>
          </p:cNvPr>
          <p:cNvSpPr>
            <a:spLocks noGrp="1"/>
          </p:cNvSpPr>
          <p:nvPr>
            <p:ph type="title"/>
          </p:nvPr>
        </p:nvSpPr>
        <p:spPr>
          <a:xfrm>
            <a:off x="457200" y="863032"/>
            <a:ext cx="8229600" cy="770559"/>
          </a:xfrm>
        </p:spPr>
        <p:txBody>
          <a:bodyPr>
            <a:normAutofit fontScale="90000"/>
          </a:bodyPr>
          <a:lstStyle/>
          <a:p>
            <a:pPr marL="342900" indent="-342900" algn="l">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Fatal accidents represent a small fraction of total incidents, but they remain high-impact events critical for risk assessment.</a:t>
            </a:r>
            <a:br>
              <a:rPr lang="en-US" dirty="0">
                <a:latin typeface="Times New Roman" panose="02020603050405020304" pitchFamily="18" charset="0"/>
                <a:cs typeface="Times New Roman" panose="02020603050405020304" pitchFamily="18" charset="0"/>
              </a:rPr>
            </a:br>
            <a:endParaRPr sz="2000" dirty="0">
              <a:latin typeface="Times New Roman" panose="02020603050405020304" pitchFamily="18" charset="0"/>
              <a:cs typeface="Times New Roman" panose="02020603050405020304" pitchFamily="18" charset="0"/>
            </a:endParaRPr>
          </a:p>
        </p:txBody>
      </p:sp>
      <p:pic>
        <p:nvPicPr>
          <p:cNvPr id="6" name="Content Placeholder 5">
            <a:extLst>
              <a:ext uri="{FF2B5EF4-FFF2-40B4-BE49-F238E27FC236}">
                <a16:creationId xmlns:a16="http://schemas.microsoft.com/office/drawing/2014/main" id="{A7C8770D-E86D-31D6-2366-3602A5B1CE0D}"/>
              </a:ext>
            </a:extLst>
          </p:cNvPr>
          <p:cNvPicPr>
            <a:picLocks noGrp="1" noChangeAspect="1"/>
          </p:cNvPicPr>
          <p:nvPr>
            <p:ph idx="1"/>
          </p:nvPr>
        </p:nvPicPr>
        <p:blipFill>
          <a:blip r:embed="rId2"/>
          <a:stretch>
            <a:fillRect/>
          </a:stretch>
        </p:blipFill>
        <p:spPr>
          <a:xfrm>
            <a:off x="1845949" y="1808251"/>
            <a:ext cx="4589073" cy="4525963"/>
          </a:xfrm>
        </p:spPr>
      </p:pic>
      <p:sp>
        <p:nvSpPr>
          <p:cNvPr id="3" name="Title 1">
            <a:extLst>
              <a:ext uri="{FF2B5EF4-FFF2-40B4-BE49-F238E27FC236}">
                <a16:creationId xmlns:a16="http://schemas.microsoft.com/office/drawing/2014/main" id="{8F63B8A0-3BCC-47A0-9492-D9540D0736D2}"/>
              </a:ext>
            </a:extLst>
          </p:cNvPr>
          <p:cNvSpPr txBox="1">
            <a:spLocks/>
          </p:cNvSpPr>
          <p:nvPr/>
        </p:nvSpPr>
        <p:spPr>
          <a:xfrm>
            <a:off x="728455" y="385282"/>
            <a:ext cx="8229600" cy="1335639"/>
          </a:xfrm>
          <a:prstGeom prst="rect">
            <a:avLst/>
          </a:prstGeom>
        </p:spPr>
        <p:txBody>
          <a:bodyPr vert="horz" lIns="91440" tIns="45720" rIns="91440" bIns="45720" rtlCol="0" anchor="ctr">
            <a:normAutofit fontScale="90000" lnSpcReduction="10000"/>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3300" b="1" dirty="0">
                <a:latin typeface="Times New Roman" panose="02020603050405020304" pitchFamily="18" charset="0"/>
                <a:cs typeface="Times New Roman" panose="02020603050405020304" pitchFamily="18" charset="0"/>
              </a:rPr>
              <a:t>Fatal vs Non-Fatal Accidents</a:t>
            </a:r>
            <a:br>
              <a:rPr lang="en-US" sz="2400" b="1" dirty="0"/>
            </a:br>
            <a:br>
              <a:rPr lang="en-US" b="1" dirty="0"/>
            </a:br>
            <a:endParaRPr lang="en-US" sz="2000" b="1" dirty="0"/>
          </a:p>
        </p:txBody>
      </p:sp>
    </p:spTree>
    <p:extLst>
      <p:ext uri="{BB962C8B-B14F-4D97-AF65-F5344CB8AC3E}">
        <p14:creationId xmlns:p14="http://schemas.microsoft.com/office/powerpoint/2010/main" val="12144373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C81750-61D9-A69F-4FCB-DE0E77F636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E81D56-54A4-B5CF-1B0E-7D087225FAAF}"/>
              </a:ext>
            </a:extLst>
          </p:cNvPr>
          <p:cNvSpPr>
            <a:spLocks noGrp="1"/>
          </p:cNvSpPr>
          <p:nvPr>
            <p:ph type="title"/>
          </p:nvPr>
        </p:nvSpPr>
        <p:spPr>
          <a:xfrm>
            <a:off x="457200" y="274638"/>
            <a:ext cx="8229600" cy="732229"/>
          </a:xfrm>
        </p:spPr>
        <p:txBody>
          <a:bodyPr>
            <a:normAutofit/>
          </a:bodyPr>
          <a:lstStyle/>
          <a:p>
            <a:pPr algn="ctr"/>
            <a:r>
              <a:rPr lang="en-US" dirty="0">
                <a:latin typeface="Times New Roman" panose="02020603050405020304" pitchFamily="18" charset="0"/>
                <a:cs typeface="Times New Roman" panose="02020603050405020304" pitchFamily="18" charset="0"/>
              </a:rPr>
              <a:t>Aircraft Model Risk Exposure</a:t>
            </a:r>
            <a:endParaRPr dirty="0">
              <a:latin typeface="Times New Roman" panose="02020603050405020304" pitchFamily="18" charset="0"/>
              <a:cs typeface="Times New Roman" panose="02020603050405020304" pitchFamily="18" charset="0"/>
            </a:endParaRPr>
          </a:p>
        </p:txBody>
      </p:sp>
      <p:pic>
        <p:nvPicPr>
          <p:cNvPr id="6" name="Content Placeholder 5">
            <a:extLst>
              <a:ext uri="{FF2B5EF4-FFF2-40B4-BE49-F238E27FC236}">
                <a16:creationId xmlns:a16="http://schemas.microsoft.com/office/drawing/2014/main" id="{F072D22F-19E7-A401-6357-C87240B54D47}"/>
              </a:ext>
            </a:extLst>
          </p:cNvPr>
          <p:cNvPicPr>
            <a:picLocks noGrp="1" noChangeAspect="1"/>
          </p:cNvPicPr>
          <p:nvPr>
            <p:ph idx="1"/>
          </p:nvPr>
        </p:nvPicPr>
        <p:blipFill>
          <a:blip r:embed="rId2"/>
          <a:stretch>
            <a:fillRect/>
          </a:stretch>
        </p:blipFill>
        <p:spPr>
          <a:xfrm>
            <a:off x="609600" y="2262282"/>
            <a:ext cx="6348413" cy="3678049"/>
          </a:xfrm>
        </p:spPr>
      </p:pic>
      <p:sp>
        <p:nvSpPr>
          <p:cNvPr id="3" name="Title 1">
            <a:extLst>
              <a:ext uri="{FF2B5EF4-FFF2-40B4-BE49-F238E27FC236}">
                <a16:creationId xmlns:a16="http://schemas.microsoft.com/office/drawing/2014/main" id="{1D52118B-BA82-DB86-1170-ED47AB20EBC4}"/>
              </a:ext>
            </a:extLst>
          </p:cNvPr>
          <p:cNvSpPr txBox="1">
            <a:spLocks/>
          </p:cNvSpPr>
          <p:nvPr/>
        </p:nvSpPr>
        <p:spPr>
          <a:xfrm>
            <a:off x="609600" y="1137667"/>
            <a:ext cx="8229600" cy="732229"/>
          </a:xfrm>
          <a:prstGeom prst="rect">
            <a:avLst/>
          </a:prstGeom>
        </p:spPr>
        <p:txBody>
          <a:bodyPr vert="horz" lIns="91440" tIns="45720" rIns="91440" bIns="45720" rtlCol="0" anchor="ctr">
            <a:normAutofit fontScale="45000" lnSpcReduction="20000"/>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marL="571500" indent="-571500" algn="l">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Some models appear frequently, reinforcing the need for risk aggregation metrics beyond raw counts.</a:t>
            </a:r>
          </a:p>
          <a:p>
            <a:r>
              <a:rPr lang="en-US" sz="2000" dirty="0">
                <a:latin typeface="Times New Roman" panose="02020603050405020304" pitchFamily="18" charset="0"/>
                <a:cs typeface="Times New Roman" panose="02020603050405020304" pitchFamily="18" charset="0"/>
              </a:rPr>
              <a:t>e</a:t>
            </a:r>
          </a:p>
        </p:txBody>
      </p:sp>
    </p:spTree>
    <p:extLst>
      <p:ext uri="{BB962C8B-B14F-4D97-AF65-F5344CB8AC3E}">
        <p14:creationId xmlns:p14="http://schemas.microsoft.com/office/powerpoint/2010/main" val="35436953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4E812B-F894-3944-3547-130CA9A0BB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F1E325-482E-685E-C8EA-2E4053DD29E8}"/>
              </a:ext>
            </a:extLst>
          </p:cNvPr>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Aircraft Risk Visualization</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D8D08B2-7FB9-77A0-276F-2FFE526CD421}"/>
              </a:ext>
            </a:extLst>
          </p:cNvPr>
          <p:cNvSpPr>
            <a:spLocks noGrp="1"/>
          </p:cNvSpPr>
          <p:nvPr>
            <p:ph idx="1"/>
          </p:nvPr>
        </p:nvSpPr>
        <p:spPr/>
        <p:txBody>
          <a:bodyPr>
            <a:normAutofit/>
          </a:bodyPr>
          <a:lstStyle/>
          <a:p>
            <a:pPr marL="0" indent="0">
              <a:buNone/>
            </a:pPr>
            <a:r>
              <a:rPr lang="en-US" b="1" dirty="0">
                <a:latin typeface="Times New Roman" panose="02020603050405020304" pitchFamily="18" charset="0"/>
                <a:cs typeface="Times New Roman" panose="02020603050405020304" pitchFamily="18" charset="0"/>
              </a:rPr>
              <a:t>Content</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Visual comparison of aircraft risk using aggregated metrics</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Focus on accident frequency, fatal history, and composite risk score</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Supports identification of low-risk aircraft models</a:t>
            </a:r>
          </a:p>
        </p:txBody>
      </p:sp>
    </p:spTree>
    <p:extLst>
      <p:ext uri="{BB962C8B-B14F-4D97-AF65-F5344CB8AC3E}">
        <p14:creationId xmlns:p14="http://schemas.microsoft.com/office/powerpoint/2010/main" val="8292976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158A47-0AC8-0F36-F4F4-3B5496EB5F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429778-40A3-7F14-B7FD-6AF920AD3B88}"/>
              </a:ext>
            </a:extLst>
          </p:cNvPr>
          <p:cNvSpPr>
            <a:spLocks noGrp="1"/>
          </p:cNvSpPr>
          <p:nvPr>
            <p:ph type="title"/>
          </p:nvPr>
        </p:nvSpPr>
        <p:spPr>
          <a:xfrm>
            <a:off x="457200" y="370842"/>
            <a:ext cx="8229600" cy="585627"/>
          </a:xfrm>
        </p:spPr>
        <p:txBody>
          <a:bodyPr>
            <a:noAutofit/>
          </a:bodyPr>
          <a:lstStyle/>
          <a:p>
            <a:pPr algn="ctr"/>
            <a:r>
              <a:rPr lang="en-US" sz="2400" b="1" dirty="0">
                <a:latin typeface="Times New Roman" panose="02020603050405020304" pitchFamily="18" charset="0"/>
                <a:cs typeface="Times New Roman" panose="02020603050405020304" pitchFamily="18" charset="0"/>
              </a:rPr>
              <a:t>Distribution of Total Accidents Among Aircraft Models</a:t>
            </a:r>
            <a:br>
              <a:rPr lang="en-US" sz="2400" dirty="0"/>
            </a:br>
            <a:br>
              <a:rPr lang="en-US" sz="2400" dirty="0"/>
            </a:br>
            <a:endParaRPr lang="en-US" sz="2400" dirty="0"/>
          </a:p>
        </p:txBody>
      </p:sp>
      <p:pic>
        <p:nvPicPr>
          <p:cNvPr id="6" name="Content Placeholder 5">
            <a:extLst>
              <a:ext uri="{FF2B5EF4-FFF2-40B4-BE49-F238E27FC236}">
                <a16:creationId xmlns:a16="http://schemas.microsoft.com/office/drawing/2014/main" id="{B150CB0C-E011-BC93-23BD-57E2364F06DC}"/>
              </a:ext>
            </a:extLst>
          </p:cNvPr>
          <p:cNvPicPr>
            <a:picLocks noGrp="1" noChangeAspect="1"/>
          </p:cNvPicPr>
          <p:nvPr>
            <p:ph idx="1"/>
          </p:nvPr>
        </p:nvPicPr>
        <p:blipFill>
          <a:blip r:embed="rId2"/>
          <a:stretch>
            <a:fillRect/>
          </a:stretch>
        </p:blipFill>
        <p:spPr>
          <a:xfrm>
            <a:off x="1471954" y="2777376"/>
            <a:ext cx="4623704" cy="3881437"/>
          </a:xfrm>
        </p:spPr>
      </p:pic>
      <p:sp>
        <p:nvSpPr>
          <p:cNvPr id="3" name="Title 1">
            <a:extLst>
              <a:ext uri="{FF2B5EF4-FFF2-40B4-BE49-F238E27FC236}">
                <a16:creationId xmlns:a16="http://schemas.microsoft.com/office/drawing/2014/main" id="{C72DFC87-66A4-F47C-95AD-203ECD43224C}"/>
              </a:ext>
            </a:extLst>
          </p:cNvPr>
          <p:cNvSpPr txBox="1">
            <a:spLocks/>
          </p:cNvSpPr>
          <p:nvPr/>
        </p:nvSpPr>
        <p:spPr>
          <a:xfrm>
            <a:off x="370573" y="1989779"/>
            <a:ext cx="8229600" cy="659818"/>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marL="571500" indent="-571500" algn="l">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This pie chart illustrates how total accident occurrences are distributed across the three recommended aircraft models.</a:t>
            </a:r>
          </a:p>
          <a:p>
            <a:pPr marL="571500" indent="-571500" algn="l">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Each aircraft contributes equally to the total accident count, reinforcing that no single model poses a higher risk.</a:t>
            </a:r>
          </a:p>
          <a:p>
            <a:pPr marL="571500" indent="-571500" algn="l">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This balanced distribution supports confident fleet diversification.</a:t>
            </a:r>
          </a:p>
          <a:p>
            <a:r>
              <a:rPr lang="en-US" sz="1800" b="1" dirty="0">
                <a:latin typeface="Times New Roman" panose="02020603050405020304" pitchFamily="18" charset="0"/>
                <a:cs typeface="Times New Roman" panose="02020603050405020304" pitchFamily="18" charset="0"/>
              </a:rPr>
              <a:t> </a:t>
            </a:r>
            <a:br>
              <a:rPr lang="en-US" sz="1800" dirty="0">
                <a:latin typeface="Times New Roman" panose="02020603050405020304" pitchFamily="18" charset="0"/>
                <a:cs typeface="Times New Roman" panose="02020603050405020304" pitchFamily="18" charset="0"/>
              </a:rPr>
            </a:br>
            <a:br>
              <a:rPr lang="en-US" sz="1800" dirty="0">
                <a:latin typeface="Times New Roman" panose="02020603050405020304" pitchFamily="18" charset="0"/>
                <a:cs typeface="Times New Roman" panose="02020603050405020304" pitchFamily="18" charset="0"/>
              </a:rPr>
            </a:b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880672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29030"/>
          </a:xfrm>
        </p:spPr>
        <p:txBody>
          <a:bodyPr>
            <a:normAutofit/>
          </a:bodyPr>
          <a:lstStyle/>
          <a:p>
            <a:pPr algn="ctr"/>
            <a:r>
              <a:rPr lang="en-US" sz="2800" b="1" dirty="0">
                <a:latin typeface="Times New Roman" panose="02020603050405020304" pitchFamily="18" charset="0"/>
                <a:cs typeface="Times New Roman" panose="02020603050405020304" pitchFamily="18" charset="0"/>
              </a:rPr>
              <a:t>Risk Score Comparison of Aircraft Model</a:t>
            </a:r>
            <a:endParaRPr lang="en-US" sz="2800" dirty="0">
              <a:latin typeface="Times New Roman" panose="02020603050405020304" pitchFamily="18" charset="0"/>
              <a:cs typeface="Times New Roman" panose="02020603050405020304" pitchFamily="18" charset="0"/>
            </a:endParaRPr>
          </a:p>
        </p:txBody>
      </p:sp>
      <p:pic>
        <p:nvPicPr>
          <p:cNvPr id="6" name="Content Placeholder 5">
            <a:extLst>
              <a:ext uri="{FF2B5EF4-FFF2-40B4-BE49-F238E27FC236}">
                <a16:creationId xmlns:a16="http://schemas.microsoft.com/office/drawing/2014/main" id="{E794874B-26EB-229C-D467-80353914B048}"/>
              </a:ext>
            </a:extLst>
          </p:cNvPr>
          <p:cNvPicPr>
            <a:picLocks noGrp="1" noChangeAspect="1"/>
          </p:cNvPicPr>
          <p:nvPr>
            <p:ph idx="1"/>
          </p:nvPr>
        </p:nvPicPr>
        <p:blipFill>
          <a:blip r:embed="rId2"/>
          <a:stretch>
            <a:fillRect/>
          </a:stretch>
        </p:blipFill>
        <p:spPr>
          <a:xfrm>
            <a:off x="609600" y="2565308"/>
            <a:ext cx="6348413" cy="3071996"/>
          </a:xfrm>
        </p:spPr>
      </p:pic>
      <p:sp>
        <p:nvSpPr>
          <p:cNvPr id="3" name="Title 1">
            <a:extLst>
              <a:ext uri="{FF2B5EF4-FFF2-40B4-BE49-F238E27FC236}">
                <a16:creationId xmlns:a16="http://schemas.microsoft.com/office/drawing/2014/main" id="{FB63E459-DB1C-AFE3-8506-FC7EF44C971E}"/>
              </a:ext>
            </a:extLst>
          </p:cNvPr>
          <p:cNvSpPr txBox="1">
            <a:spLocks/>
          </p:cNvSpPr>
          <p:nvPr/>
        </p:nvSpPr>
        <p:spPr>
          <a:xfrm>
            <a:off x="457200" y="1003668"/>
            <a:ext cx="8229600" cy="1081986"/>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marL="571500" indent="-571500" algn="l">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This bar chart compares the composite risk scores of the aircraft models. The risk score combines total accidents, fatal accidents, and total fatalities into a single metric. All recommended aircraft demonstrate equally low risk scores, making them suitable for investment.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0180CF-86AD-862C-E669-9F462A6669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FD360C-D5BD-DDCD-E3D8-54D2471E9BB0}"/>
              </a:ext>
            </a:extLst>
          </p:cNvPr>
          <p:cNvSpPr>
            <a:spLocks noGrp="1"/>
          </p:cNvSpPr>
          <p:nvPr>
            <p:ph type="title"/>
          </p:nvPr>
        </p:nvSpPr>
        <p:spPr>
          <a:xfrm>
            <a:off x="457200" y="274638"/>
            <a:ext cx="8229600" cy="742504"/>
          </a:xfrm>
        </p:spPr>
        <p:txBody>
          <a:bodyPr>
            <a:normAutofit/>
          </a:bodyPr>
          <a:lstStyle/>
          <a:p>
            <a:pPr algn="ctr"/>
            <a:r>
              <a:rPr lang="en-US" sz="2800" b="1" dirty="0">
                <a:latin typeface="Times New Roman" panose="02020603050405020304" pitchFamily="18" charset="0"/>
                <a:cs typeface="Times New Roman" panose="02020603050405020304" pitchFamily="18" charset="0"/>
              </a:rPr>
              <a:t>Distribution Engine type vs fatal accidents</a:t>
            </a:r>
            <a:endParaRPr sz="2800" dirty="0">
              <a:latin typeface="Times New Roman" panose="02020603050405020304" pitchFamily="18" charset="0"/>
              <a:cs typeface="Times New Roman" panose="02020603050405020304" pitchFamily="18" charset="0"/>
            </a:endParaRPr>
          </a:p>
        </p:txBody>
      </p:sp>
      <p:pic>
        <p:nvPicPr>
          <p:cNvPr id="6" name="Content Placeholder 5">
            <a:extLst>
              <a:ext uri="{FF2B5EF4-FFF2-40B4-BE49-F238E27FC236}">
                <a16:creationId xmlns:a16="http://schemas.microsoft.com/office/drawing/2014/main" id="{6F8D32FA-BFE0-9FB5-7CD8-457912778DCB}"/>
              </a:ext>
            </a:extLst>
          </p:cNvPr>
          <p:cNvPicPr>
            <a:picLocks noGrp="1" noChangeAspect="1"/>
          </p:cNvPicPr>
          <p:nvPr>
            <p:ph idx="1"/>
          </p:nvPr>
        </p:nvPicPr>
        <p:blipFill>
          <a:blip r:embed="rId2"/>
          <a:stretch>
            <a:fillRect/>
          </a:stretch>
        </p:blipFill>
        <p:spPr>
          <a:xfrm>
            <a:off x="609600" y="2776152"/>
            <a:ext cx="6348413" cy="2650308"/>
          </a:xfrm>
        </p:spPr>
      </p:pic>
      <p:sp>
        <p:nvSpPr>
          <p:cNvPr id="3" name="Title 1">
            <a:extLst>
              <a:ext uri="{FF2B5EF4-FFF2-40B4-BE49-F238E27FC236}">
                <a16:creationId xmlns:a16="http://schemas.microsoft.com/office/drawing/2014/main" id="{99A41DBE-D51C-2A71-7291-750896AC6B4F}"/>
              </a:ext>
            </a:extLst>
          </p:cNvPr>
          <p:cNvSpPr txBox="1">
            <a:spLocks/>
          </p:cNvSpPr>
          <p:nvPr/>
        </p:nvSpPr>
        <p:spPr>
          <a:xfrm>
            <a:off x="609600" y="905737"/>
            <a:ext cx="8229600" cy="1087449"/>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marL="571500" indent="-571500" algn="l">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This bar graph show the distribution of fatal accidents based on the aircraft Engine types</a:t>
            </a:r>
          </a:p>
        </p:txBody>
      </p:sp>
    </p:spTree>
    <p:extLst>
      <p:ext uri="{BB962C8B-B14F-4D97-AF65-F5344CB8AC3E}">
        <p14:creationId xmlns:p14="http://schemas.microsoft.com/office/powerpoint/2010/main" val="37444115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3F2CB3-1158-A2BC-324B-9153280298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665139-7F5C-F6E8-7C11-EA37176D4DDA}"/>
              </a:ext>
            </a:extLst>
          </p:cNvPr>
          <p:cNvSpPr>
            <a:spLocks noGrp="1"/>
          </p:cNvSpPr>
          <p:nvPr>
            <p:ph type="title"/>
          </p:nvPr>
        </p:nvSpPr>
        <p:spPr>
          <a:xfrm>
            <a:off x="457200" y="274638"/>
            <a:ext cx="8229600" cy="763052"/>
          </a:xfrm>
        </p:spPr>
        <p:txBody>
          <a:bodyPr>
            <a:normAutofit/>
          </a:bodyPr>
          <a:lstStyle/>
          <a:p>
            <a:pPr algn="ctr"/>
            <a:r>
              <a:rPr lang="en-US" sz="2400" b="1" dirty="0">
                <a:latin typeface="Times New Roman" panose="02020603050405020304" pitchFamily="18" charset="0"/>
                <a:cs typeface="Times New Roman" panose="02020603050405020304" pitchFamily="18" charset="0"/>
              </a:rPr>
              <a:t>Relationship Between Total Accidents and Fatalities</a:t>
            </a:r>
            <a:endParaRPr lang="en-US" sz="2400" dirty="0">
              <a:latin typeface="Times New Roman" panose="02020603050405020304" pitchFamily="18" charset="0"/>
              <a:cs typeface="Times New Roman" panose="02020603050405020304" pitchFamily="18" charset="0"/>
            </a:endParaRPr>
          </a:p>
        </p:txBody>
      </p:sp>
      <p:pic>
        <p:nvPicPr>
          <p:cNvPr id="6" name="Content Placeholder 5">
            <a:extLst>
              <a:ext uri="{FF2B5EF4-FFF2-40B4-BE49-F238E27FC236}">
                <a16:creationId xmlns:a16="http://schemas.microsoft.com/office/drawing/2014/main" id="{74EA1F59-8C44-C901-F17D-58989E655F23}"/>
              </a:ext>
            </a:extLst>
          </p:cNvPr>
          <p:cNvPicPr>
            <a:picLocks noGrp="1" noChangeAspect="1"/>
          </p:cNvPicPr>
          <p:nvPr>
            <p:ph idx="1"/>
          </p:nvPr>
        </p:nvPicPr>
        <p:blipFill>
          <a:blip r:embed="rId2"/>
          <a:stretch>
            <a:fillRect/>
          </a:stretch>
        </p:blipFill>
        <p:spPr>
          <a:xfrm>
            <a:off x="1" y="2393879"/>
            <a:ext cx="9144000" cy="3563870"/>
          </a:xfrm>
        </p:spPr>
      </p:pic>
      <p:sp>
        <p:nvSpPr>
          <p:cNvPr id="3" name="Title 1">
            <a:extLst>
              <a:ext uri="{FF2B5EF4-FFF2-40B4-BE49-F238E27FC236}">
                <a16:creationId xmlns:a16="http://schemas.microsoft.com/office/drawing/2014/main" id="{D901E3DF-7ADC-5F0F-0996-BE23AD209644}"/>
              </a:ext>
            </a:extLst>
          </p:cNvPr>
          <p:cNvSpPr txBox="1">
            <a:spLocks/>
          </p:cNvSpPr>
          <p:nvPr/>
        </p:nvSpPr>
        <p:spPr>
          <a:xfrm>
            <a:off x="589052" y="900251"/>
            <a:ext cx="8229600" cy="1493628"/>
          </a:xfrm>
          <a:prstGeom prst="rect">
            <a:avLst/>
          </a:prstGeom>
        </p:spPr>
        <p:txBody>
          <a:bodyPr vert="horz" lIns="91440" tIns="45720" rIns="91440" bIns="45720" rtlCol="0" anchor="ctr">
            <a:normAutofit fontScale="25000" lnSpcReduction="20000"/>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marL="571500" indent="-571500" algn="l">
              <a:buFont typeface="Wingdings" panose="05000000000000000000" pitchFamily="2" charset="2"/>
              <a:buChar char="Ø"/>
            </a:pPr>
            <a:r>
              <a:rPr lang="en-US" sz="7200" dirty="0">
                <a:latin typeface="Times New Roman" panose="02020603050405020304" pitchFamily="18" charset="0"/>
                <a:cs typeface="Times New Roman" panose="02020603050405020304" pitchFamily="18" charset="0"/>
              </a:rPr>
              <a:t>This scatter plot compares accident frequency with total fatalities for aircraft models.</a:t>
            </a:r>
          </a:p>
          <a:p>
            <a:pPr marL="571500" indent="-571500" algn="l">
              <a:buFont typeface="Wingdings" panose="05000000000000000000" pitchFamily="2" charset="2"/>
              <a:buChar char="Ø"/>
            </a:pPr>
            <a:r>
              <a:rPr lang="en-US" sz="7200" dirty="0">
                <a:latin typeface="Times New Roman" panose="02020603050405020304" pitchFamily="18" charset="0"/>
                <a:cs typeface="Times New Roman" panose="02020603050405020304" pitchFamily="18" charset="0"/>
              </a:rPr>
              <a:t>It highlights models with low frequency but high severity, and vice versa.</a:t>
            </a:r>
          </a:p>
          <a:p>
            <a:pPr marL="571500" indent="-571500" algn="l">
              <a:buFont typeface="Wingdings" panose="05000000000000000000" pitchFamily="2" charset="2"/>
              <a:buChar char="Ø"/>
            </a:pPr>
            <a:r>
              <a:rPr lang="en-US" sz="7200" dirty="0">
                <a:latin typeface="Times New Roman" panose="02020603050405020304" pitchFamily="18" charset="0"/>
                <a:cs typeface="Times New Roman" panose="02020603050405020304" pitchFamily="18" charset="0"/>
              </a:rPr>
              <a:t>Accident count alone does not define risk — severity must be considered, justifying the composite risk score</a:t>
            </a:r>
            <a:r>
              <a:rPr lang="en-US"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4536731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DD1B62-5840-0B30-E06D-D6C099A743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443CAE-9572-483D-406B-90E159895544}"/>
              </a:ext>
            </a:extLst>
          </p:cNvPr>
          <p:cNvSpPr>
            <a:spLocks noGrp="1"/>
          </p:cNvSpPr>
          <p:nvPr>
            <p:ph type="title"/>
          </p:nvPr>
        </p:nvSpPr>
        <p:spPr>
          <a:xfrm>
            <a:off x="457200" y="274638"/>
            <a:ext cx="8229600" cy="619214"/>
          </a:xfrm>
        </p:spPr>
        <p:txBody>
          <a:bodyPr>
            <a:normAutofit/>
          </a:bodyPr>
          <a:lstStyle/>
          <a:p>
            <a:pPr algn="ctr"/>
            <a:r>
              <a:rPr lang="en-US" sz="2400" b="1" dirty="0">
                <a:latin typeface="Times New Roman" panose="02020603050405020304" pitchFamily="18" charset="0"/>
                <a:cs typeface="Times New Roman" panose="02020603050405020304" pitchFamily="18" charset="0"/>
              </a:rPr>
              <a:t>Fatal vs Non-Fatal History in Lowest-Risk Aircraft</a:t>
            </a:r>
            <a:endParaRPr lang="en-US" sz="2400" dirty="0">
              <a:latin typeface="Times New Roman" panose="02020603050405020304" pitchFamily="18" charset="0"/>
              <a:cs typeface="Times New Roman" panose="02020603050405020304" pitchFamily="18" charset="0"/>
            </a:endParaRPr>
          </a:p>
        </p:txBody>
      </p:sp>
      <p:pic>
        <p:nvPicPr>
          <p:cNvPr id="6" name="Content Placeholder 5">
            <a:extLst>
              <a:ext uri="{FF2B5EF4-FFF2-40B4-BE49-F238E27FC236}">
                <a16:creationId xmlns:a16="http://schemas.microsoft.com/office/drawing/2014/main" id="{76721E7E-39B9-E607-B965-EE654779E0C0}"/>
              </a:ext>
            </a:extLst>
          </p:cNvPr>
          <p:cNvPicPr>
            <a:picLocks noGrp="1" noChangeAspect="1"/>
          </p:cNvPicPr>
          <p:nvPr>
            <p:ph idx="1"/>
          </p:nvPr>
        </p:nvPicPr>
        <p:blipFill>
          <a:blip r:embed="rId2"/>
          <a:stretch>
            <a:fillRect/>
          </a:stretch>
        </p:blipFill>
        <p:spPr>
          <a:xfrm>
            <a:off x="2177971" y="1959796"/>
            <a:ext cx="4562026" cy="4525963"/>
          </a:xfrm>
        </p:spPr>
      </p:pic>
      <p:sp>
        <p:nvSpPr>
          <p:cNvPr id="3" name="Title 1">
            <a:extLst>
              <a:ext uri="{FF2B5EF4-FFF2-40B4-BE49-F238E27FC236}">
                <a16:creationId xmlns:a16="http://schemas.microsoft.com/office/drawing/2014/main" id="{A9680827-8EF9-7DB6-AD71-41A54E6096F1}"/>
              </a:ext>
            </a:extLst>
          </p:cNvPr>
          <p:cNvSpPr txBox="1">
            <a:spLocks/>
          </p:cNvSpPr>
          <p:nvPr/>
        </p:nvSpPr>
        <p:spPr>
          <a:xfrm>
            <a:off x="599326" y="657546"/>
            <a:ext cx="8229600" cy="1664414"/>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marL="571500" indent="-571500" algn="l">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This pie chart shows whether aircraft in the lowest-risk group have any history of fatal accidents.</a:t>
            </a:r>
          </a:p>
        </p:txBody>
      </p:sp>
    </p:spTree>
    <p:extLst>
      <p:ext uri="{BB962C8B-B14F-4D97-AF65-F5344CB8AC3E}">
        <p14:creationId xmlns:p14="http://schemas.microsoft.com/office/powerpoint/2010/main" val="22477100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4C6A1C-AA49-B629-425A-2630EEC0AA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DEB683-B055-85D9-6E33-2EFDF8541731}"/>
              </a:ext>
            </a:extLst>
          </p:cNvPr>
          <p:cNvSpPr>
            <a:spLocks noGrp="1"/>
          </p:cNvSpPr>
          <p:nvPr>
            <p:ph type="title"/>
          </p:nvPr>
        </p:nvSpPr>
        <p:spPr>
          <a:xfrm>
            <a:off x="457200" y="158632"/>
            <a:ext cx="8229600" cy="650036"/>
          </a:xfrm>
        </p:spPr>
        <p:txBody>
          <a:bodyPr>
            <a:normAutofit/>
          </a:bodyPr>
          <a:lstStyle/>
          <a:p>
            <a:pPr algn="ctr"/>
            <a:r>
              <a:rPr lang="en-US" sz="2800" b="1" dirty="0">
                <a:latin typeface="Times New Roman" panose="02020603050405020304" pitchFamily="18" charset="0"/>
                <a:cs typeface="Times New Roman" panose="02020603050405020304" pitchFamily="18" charset="0"/>
              </a:rPr>
              <a:t>Risk Score Comparison of Aircraft Model</a:t>
            </a:r>
            <a:endParaRPr lang="en-US" sz="2800" dirty="0">
              <a:latin typeface="Times New Roman" panose="02020603050405020304" pitchFamily="18" charset="0"/>
              <a:cs typeface="Times New Roman" panose="02020603050405020304" pitchFamily="18" charset="0"/>
            </a:endParaRPr>
          </a:p>
        </p:txBody>
      </p:sp>
      <p:pic>
        <p:nvPicPr>
          <p:cNvPr id="6" name="Content Placeholder 5">
            <a:extLst>
              <a:ext uri="{FF2B5EF4-FFF2-40B4-BE49-F238E27FC236}">
                <a16:creationId xmlns:a16="http://schemas.microsoft.com/office/drawing/2014/main" id="{E97C40A9-1F6B-51A2-E98A-4B77D8F991A3}"/>
              </a:ext>
            </a:extLst>
          </p:cNvPr>
          <p:cNvPicPr>
            <a:picLocks noGrp="1" noChangeAspect="1"/>
          </p:cNvPicPr>
          <p:nvPr>
            <p:ph idx="1"/>
          </p:nvPr>
        </p:nvPicPr>
        <p:blipFill>
          <a:blip r:embed="rId2"/>
          <a:stretch>
            <a:fillRect/>
          </a:stretch>
        </p:blipFill>
        <p:spPr>
          <a:xfrm>
            <a:off x="722270" y="2519361"/>
            <a:ext cx="6257826" cy="3881437"/>
          </a:xfrm>
        </p:spPr>
      </p:pic>
      <p:sp>
        <p:nvSpPr>
          <p:cNvPr id="3" name="Title 1">
            <a:extLst>
              <a:ext uri="{FF2B5EF4-FFF2-40B4-BE49-F238E27FC236}">
                <a16:creationId xmlns:a16="http://schemas.microsoft.com/office/drawing/2014/main" id="{3FFF7C31-AEA4-454B-AED2-9E7E048AF24A}"/>
              </a:ext>
            </a:extLst>
          </p:cNvPr>
          <p:cNvSpPr txBox="1">
            <a:spLocks/>
          </p:cNvSpPr>
          <p:nvPr/>
        </p:nvSpPr>
        <p:spPr>
          <a:xfrm>
            <a:off x="630148" y="950599"/>
            <a:ext cx="8229600" cy="1426831"/>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marL="571500" indent="-571500" algn="l">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This bar chart compares the composite risk scores of the aircraft models.</a:t>
            </a:r>
          </a:p>
          <a:p>
            <a:pPr marL="571500" indent="-571500" algn="l">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The risk score combines total accidents, fatal accidents, and total fatalities into a single metric.</a:t>
            </a:r>
          </a:p>
          <a:p>
            <a:pPr marL="571500" indent="-571500" algn="l">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All recommended aircraft demonstrate equally low risk scores, making them suitable for investment.</a:t>
            </a:r>
          </a:p>
        </p:txBody>
      </p:sp>
    </p:spTree>
    <p:extLst>
      <p:ext uri="{BB962C8B-B14F-4D97-AF65-F5344CB8AC3E}">
        <p14:creationId xmlns:p14="http://schemas.microsoft.com/office/powerpoint/2010/main" val="31320664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D2D45B-976F-C49F-50A5-ECBD042655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357EAE-DDFD-7D43-16F9-26BD550E4040}"/>
              </a:ext>
            </a:extLst>
          </p:cNvPr>
          <p:cNvSpPr>
            <a:spLocks noGrp="1"/>
          </p:cNvSpPr>
          <p:nvPr>
            <p:ph type="title"/>
          </p:nvPr>
        </p:nvSpPr>
        <p:spPr>
          <a:xfrm>
            <a:off x="457200" y="274638"/>
            <a:ext cx="8229600" cy="865793"/>
          </a:xfrm>
        </p:spPr>
        <p:txBody>
          <a:bodyPr>
            <a:normAutofit/>
          </a:bodyPr>
          <a:lstStyle/>
          <a:p>
            <a:pPr algn="ctr"/>
            <a:r>
              <a:rPr lang="en-US" sz="2400" b="1" dirty="0">
                <a:latin typeface="Times New Roman" panose="02020603050405020304" pitchFamily="18" charset="0"/>
                <a:cs typeface="Times New Roman" panose="02020603050405020304" pitchFamily="18" charset="0"/>
              </a:rPr>
              <a:t>Distribution of Fatal History in Lowest-Risk Aircraft</a:t>
            </a:r>
            <a:endParaRPr lang="en-US" sz="2400" dirty="0">
              <a:latin typeface="Times New Roman" panose="02020603050405020304" pitchFamily="18" charset="0"/>
              <a:cs typeface="Times New Roman" panose="02020603050405020304" pitchFamily="18" charset="0"/>
            </a:endParaRPr>
          </a:p>
        </p:txBody>
      </p:sp>
      <p:pic>
        <p:nvPicPr>
          <p:cNvPr id="6" name="Content Placeholder 5">
            <a:extLst>
              <a:ext uri="{FF2B5EF4-FFF2-40B4-BE49-F238E27FC236}">
                <a16:creationId xmlns:a16="http://schemas.microsoft.com/office/drawing/2014/main" id="{369AE186-C60B-555B-7C23-B057F99B5C8B}"/>
              </a:ext>
            </a:extLst>
          </p:cNvPr>
          <p:cNvPicPr>
            <a:picLocks noGrp="1" noChangeAspect="1"/>
          </p:cNvPicPr>
          <p:nvPr>
            <p:ph idx="1"/>
          </p:nvPr>
        </p:nvPicPr>
        <p:blipFill>
          <a:blip r:embed="rId2"/>
          <a:stretch>
            <a:fillRect/>
          </a:stretch>
        </p:blipFill>
        <p:spPr>
          <a:xfrm>
            <a:off x="1941816" y="2558265"/>
            <a:ext cx="5095982" cy="4299735"/>
          </a:xfrm>
        </p:spPr>
      </p:pic>
      <p:sp>
        <p:nvSpPr>
          <p:cNvPr id="3" name="Title 1">
            <a:extLst>
              <a:ext uri="{FF2B5EF4-FFF2-40B4-BE49-F238E27FC236}">
                <a16:creationId xmlns:a16="http://schemas.microsoft.com/office/drawing/2014/main" id="{1C930C2B-496D-9111-A45E-FE573D44688A}"/>
              </a:ext>
            </a:extLst>
          </p:cNvPr>
          <p:cNvSpPr txBox="1">
            <a:spLocks/>
          </p:cNvSpPr>
          <p:nvPr/>
        </p:nvSpPr>
        <p:spPr>
          <a:xfrm>
            <a:off x="537681" y="1058239"/>
            <a:ext cx="8229600" cy="1500026"/>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marL="571500" indent="-571500" algn="l">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This visualization shows the proportion of the lowest-risk aircraft models with and without a fatal accident history. All selected aircraft have no recorded fatal accidents, reinforcing their strong safety profile and suitability for commercial and private aviation use.</a:t>
            </a:r>
          </a:p>
        </p:txBody>
      </p:sp>
    </p:spTree>
    <p:extLst>
      <p:ext uri="{BB962C8B-B14F-4D97-AF65-F5344CB8AC3E}">
        <p14:creationId xmlns:p14="http://schemas.microsoft.com/office/powerpoint/2010/main" val="8450893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07C73A-323F-09E1-C067-06581CB083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C3EDB5-E9DA-FA95-CB1A-295586588791}"/>
              </a:ext>
            </a:extLst>
          </p:cNvPr>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Risk Visualization Summary</a:t>
            </a:r>
            <a:endParaRPr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A6DA57E-954E-7257-87CB-7A53C9CC3F44}"/>
              </a:ext>
            </a:extLst>
          </p:cNvPr>
          <p:cNvSpPr>
            <a:spLocks noGrp="1"/>
          </p:cNvSpPr>
          <p:nvPr>
            <p:ph idx="1"/>
          </p:nvPr>
        </p:nvSpPr>
        <p:spPr/>
        <p:txBody>
          <a:bodyPr>
            <a:normAutofit/>
          </a:bodyPr>
          <a:lstStyle/>
          <a:p>
            <a:pPr marL="0" indent="0">
              <a:buNone/>
            </a:pPr>
            <a:r>
              <a:rPr lang="en-US" b="1" dirty="0">
                <a:latin typeface="Times New Roman" panose="02020603050405020304" pitchFamily="18" charset="0"/>
                <a:cs typeface="Times New Roman" panose="02020603050405020304" pitchFamily="18" charset="0"/>
              </a:rPr>
              <a:t>Key Risk Insights</a:t>
            </a: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Risk scores enable fair comparison across aircraft models</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Fatal accident history is a critical risk driver</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Selected aircraft represent the lowest observed risk levels</a:t>
            </a:r>
          </a:p>
        </p:txBody>
      </p:sp>
    </p:spTree>
    <p:extLst>
      <p:ext uri="{BB962C8B-B14F-4D97-AF65-F5344CB8AC3E}">
        <p14:creationId xmlns:p14="http://schemas.microsoft.com/office/powerpoint/2010/main" val="1729046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FDD2DC-7D25-27BD-6201-3F7EE219CD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F728B0-EB25-F885-3F9F-06A081635CCC}"/>
              </a:ext>
            </a:extLst>
          </p:cNvPr>
          <p:cNvSpPr>
            <a:spLocks noGrp="1"/>
          </p:cNvSpPr>
          <p:nvPr>
            <p:ph type="title"/>
          </p:nvPr>
        </p:nvSpPr>
        <p:spPr>
          <a:xfrm>
            <a:off x="609599" y="609600"/>
            <a:ext cx="6347713" cy="1095910"/>
          </a:xfrm>
        </p:spPr>
        <p:txBody>
          <a:bodyPr>
            <a:normAutofit/>
          </a:bodyPr>
          <a:lstStyle/>
          <a:p>
            <a:pPr algn="ctr"/>
            <a:r>
              <a:rPr sz="2800" dirty="0"/>
              <a:t>Interactive Tableau Dashboard</a:t>
            </a:r>
          </a:p>
        </p:txBody>
      </p:sp>
      <p:pic>
        <p:nvPicPr>
          <p:cNvPr id="10" name="Content Placeholder 9">
            <a:extLst>
              <a:ext uri="{FF2B5EF4-FFF2-40B4-BE49-F238E27FC236}">
                <a16:creationId xmlns:a16="http://schemas.microsoft.com/office/drawing/2014/main" id="{7AD49C7D-2758-57A6-3B57-134FD2B338C2}"/>
              </a:ext>
            </a:extLst>
          </p:cNvPr>
          <p:cNvPicPr>
            <a:picLocks noGrp="1" noChangeAspect="1"/>
          </p:cNvPicPr>
          <p:nvPr>
            <p:ph idx="1"/>
          </p:nvPr>
        </p:nvPicPr>
        <p:blipFill>
          <a:blip r:embed="rId2"/>
          <a:stretch>
            <a:fillRect/>
          </a:stretch>
        </p:blipFill>
        <p:spPr>
          <a:xfrm>
            <a:off x="359596" y="1078787"/>
            <a:ext cx="7017249" cy="4844833"/>
          </a:xfrm>
        </p:spPr>
      </p:pic>
      <p:sp>
        <p:nvSpPr>
          <p:cNvPr id="8" name="Title 1">
            <a:extLst>
              <a:ext uri="{FF2B5EF4-FFF2-40B4-BE49-F238E27FC236}">
                <a16:creationId xmlns:a16="http://schemas.microsoft.com/office/drawing/2014/main" id="{16244EDE-2288-69EC-37A4-DD54C65BE74A}"/>
              </a:ext>
            </a:extLst>
          </p:cNvPr>
          <p:cNvSpPr txBox="1">
            <a:spLocks/>
          </p:cNvSpPr>
          <p:nvPr/>
        </p:nvSpPr>
        <p:spPr>
          <a:xfrm>
            <a:off x="875015" y="5700445"/>
            <a:ext cx="6347713" cy="109591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1400" dirty="0"/>
              <a:t>https://public.tableau.com/views/Book4_17661000027750/finalDB?:language=en-US&amp;publish=yes&amp;:sid=&amp;:redirect=auth&amp;:display_count=n&amp;:origin=viz_share_link</a:t>
            </a:r>
          </a:p>
        </p:txBody>
      </p:sp>
    </p:spTree>
    <p:extLst>
      <p:ext uri="{BB962C8B-B14F-4D97-AF65-F5344CB8AC3E}">
        <p14:creationId xmlns:p14="http://schemas.microsoft.com/office/powerpoint/2010/main" val="17955645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8E0499-FF07-1523-4C24-824C4E3A80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D26069-5907-2553-14B9-56689B3D8629}"/>
              </a:ext>
            </a:extLst>
          </p:cNvPr>
          <p:cNvSpPr>
            <a:spLocks noGrp="1"/>
          </p:cNvSpPr>
          <p:nvPr>
            <p:ph type="title"/>
          </p:nvPr>
        </p:nvSpPr>
        <p:spPr/>
        <p:txBody>
          <a:bodyPr/>
          <a:lstStyle/>
          <a:p>
            <a:pPr algn="ctr"/>
            <a:r>
              <a:rPr dirty="0">
                <a:latin typeface="Times New Roman" panose="02020603050405020304" pitchFamily="18" charset="0"/>
                <a:cs typeface="Times New Roman" panose="02020603050405020304" pitchFamily="18" charset="0"/>
              </a:rPr>
              <a:t>Business Recommendations</a:t>
            </a:r>
          </a:p>
        </p:txBody>
      </p:sp>
      <p:sp>
        <p:nvSpPr>
          <p:cNvPr id="3" name="Content Placeholder 2">
            <a:extLst>
              <a:ext uri="{FF2B5EF4-FFF2-40B4-BE49-F238E27FC236}">
                <a16:creationId xmlns:a16="http://schemas.microsoft.com/office/drawing/2014/main" id="{402150D1-A968-358B-19CF-29A11863826F}"/>
              </a:ext>
            </a:extLst>
          </p:cNvPr>
          <p:cNvSpPr>
            <a:spLocks noGrp="1"/>
          </p:cNvSpPr>
          <p:nvPr>
            <p:ph idx="1"/>
          </p:nvPr>
        </p:nvSpPr>
        <p:spPr>
          <a:xfrm>
            <a:off x="457200" y="1417638"/>
            <a:ext cx="8229600" cy="4911243"/>
          </a:xfrm>
        </p:spPr>
        <p:txBody>
          <a:bodyPr>
            <a:noAutofit/>
          </a:bodyPr>
          <a:lstStyle/>
          <a:p>
            <a:pPr marL="0" indent="0">
              <a:buNone/>
            </a:pPr>
            <a:r>
              <a:rPr lang="en-US" sz="2400" b="1" dirty="0">
                <a:latin typeface="Times New Roman" panose="02020603050405020304" pitchFamily="18" charset="0"/>
                <a:cs typeface="Times New Roman" panose="02020603050405020304" pitchFamily="18" charset="0"/>
              </a:rPr>
              <a:t>1: Prioritize Aircraft with No Fatal History</a:t>
            </a: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These models consistently showed the lowest risk scores and represent safer operational choices.</a:t>
            </a:r>
          </a:p>
          <a:p>
            <a:pPr marL="0" indent="0">
              <a:buNone/>
            </a:pPr>
            <a:r>
              <a:rPr lang="en-US" sz="2400" b="1" dirty="0">
                <a:latin typeface="Times New Roman" panose="02020603050405020304" pitchFamily="18" charset="0"/>
                <a:cs typeface="Times New Roman" panose="02020603050405020304" pitchFamily="18" charset="0"/>
              </a:rPr>
              <a:t>2: Begin with Low-Risk Private &amp; Light Aircraft</a:t>
            </a:r>
          </a:p>
          <a:p>
            <a:pPr marL="0" indent="0">
              <a:buNone/>
            </a:pPr>
            <a:r>
              <a:rPr lang="en-US" sz="2400" dirty="0">
                <a:latin typeface="Times New Roman" panose="02020603050405020304" pitchFamily="18" charset="0"/>
                <a:cs typeface="Times New Roman" panose="02020603050405020304" pitchFamily="18" charset="0"/>
              </a:rPr>
              <a:t>These aircraft categories demonstrated lower accident and fatality rates compared to larger commercial models.</a:t>
            </a:r>
          </a:p>
          <a:p>
            <a:pPr marL="0" indent="0">
              <a:buNone/>
            </a:pPr>
            <a:r>
              <a:rPr lang="en-US" sz="2400" b="1" dirty="0">
                <a:latin typeface="Times New Roman" panose="02020603050405020304" pitchFamily="18" charset="0"/>
                <a:cs typeface="Times New Roman" panose="02020603050405020304" pitchFamily="18" charset="0"/>
              </a:rPr>
              <a:t>3: Use Risk Metrics Before Scaling Operations</a:t>
            </a:r>
          </a:p>
          <a:p>
            <a:pPr marL="0" indent="0">
              <a:buNone/>
            </a:pPr>
            <a:r>
              <a:rPr lang="en-US" sz="2400" dirty="0">
                <a:latin typeface="Times New Roman" panose="02020603050405020304" pitchFamily="18" charset="0"/>
                <a:cs typeface="Times New Roman" panose="02020603050405020304" pitchFamily="18" charset="0"/>
              </a:rPr>
              <a:t>As the company scales, leadership should evaluate new aircraft using the same risk score framework.</a:t>
            </a:r>
          </a:p>
        </p:txBody>
      </p:sp>
    </p:spTree>
    <p:extLst>
      <p:ext uri="{BB962C8B-B14F-4D97-AF65-F5344CB8AC3E}">
        <p14:creationId xmlns:p14="http://schemas.microsoft.com/office/powerpoint/2010/main" val="31711469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68535"/>
          </a:xfrm>
        </p:spPr>
        <p:txBody>
          <a:bodyPr/>
          <a:lstStyle/>
          <a:p>
            <a:pPr algn="ctr"/>
            <a:r>
              <a:rPr dirty="0">
                <a:latin typeface="Times New Roman" panose="02020603050405020304" pitchFamily="18" charset="0"/>
                <a:cs typeface="Times New Roman" panose="02020603050405020304" pitchFamily="18" charset="0"/>
              </a:rPr>
              <a:t>Top 3 Safest Aircraft Models</a:t>
            </a:r>
          </a:p>
        </p:txBody>
      </p:sp>
      <p:graphicFrame>
        <p:nvGraphicFramePr>
          <p:cNvPr id="5" name="Content Placeholder 4">
            <a:extLst>
              <a:ext uri="{FF2B5EF4-FFF2-40B4-BE49-F238E27FC236}">
                <a16:creationId xmlns:a16="http://schemas.microsoft.com/office/drawing/2014/main" id="{47CE4D45-73E6-CCBB-AECE-8BFC330BD341}"/>
              </a:ext>
            </a:extLst>
          </p:cNvPr>
          <p:cNvGraphicFramePr>
            <a:graphicFrameLocks noGrp="1"/>
          </p:cNvGraphicFramePr>
          <p:nvPr>
            <p:ph idx="1"/>
            <p:extLst>
              <p:ext uri="{D42A27DB-BD31-4B8C-83A1-F6EECF244321}">
                <p14:modId xmlns:p14="http://schemas.microsoft.com/office/powerpoint/2010/main" val="771192836"/>
              </p:ext>
            </p:extLst>
          </p:nvPr>
        </p:nvGraphicFramePr>
        <p:xfrm>
          <a:off x="344184" y="3294775"/>
          <a:ext cx="8229600" cy="3108960"/>
        </p:xfrm>
        <a:graphic>
          <a:graphicData uri="http://schemas.openxmlformats.org/drawingml/2006/table">
            <a:tbl>
              <a:tblPr firstRow="1" bandRow="1">
                <a:tableStyleId>{5C22544A-7EE6-4342-B048-85BDC9FD1C3A}</a:tableStyleId>
              </a:tblPr>
              <a:tblGrid>
                <a:gridCol w="2057400">
                  <a:extLst>
                    <a:ext uri="{9D8B030D-6E8A-4147-A177-3AD203B41FA5}">
                      <a16:colId xmlns:a16="http://schemas.microsoft.com/office/drawing/2014/main" val="882271619"/>
                    </a:ext>
                  </a:extLst>
                </a:gridCol>
                <a:gridCol w="2057400">
                  <a:extLst>
                    <a:ext uri="{9D8B030D-6E8A-4147-A177-3AD203B41FA5}">
                      <a16:colId xmlns:a16="http://schemas.microsoft.com/office/drawing/2014/main" val="1127698070"/>
                    </a:ext>
                  </a:extLst>
                </a:gridCol>
                <a:gridCol w="2057400">
                  <a:extLst>
                    <a:ext uri="{9D8B030D-6E8A-4147-A177-3AD203B41FA5}">
                      <a16:colId xmlns:a16="http://schemas.microsoft.com/office/drawing/2014/main" val="594435741"/>
                    </a:ext>
                  </a:extLst>
                </a:gridCol>
                <a:gridCol w="2057400">
                  <a:extLst>
                    <a:ext uri="{9D8B030D-6E8A-4147-A177-3AD203B41FA5}">
                      <a16:colId xmlns:a16="http://schemas.microsoft.com/office/drawing/2014/main" val="2519233852"/>
                    </a:ext>
                  </a:extLst>
                </a:gridCol>
              </a:tblGrid>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Aircraft Model</a:t>
                      </a:r>
                    </a:p>
                    <a:p>
                      <a:endParaRPr lang="en-US"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Risk Score</a:t>
                      </a:r>
                    </a:p>
                    <a:p>
                      <a:endParaRPr lang="en-US"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Fatal History</a:t>
                      </a:r>
                    </a:p>
                    <a:p>
                      <a:endParaRPr lang="en-US"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Use Type</a:t>
                      </a:r>
                    </a:p>
                    <a:p>
                      <a:endParaRPr lang="en-US" dirty="0"/>
                    </a:p>
                  </a:txBody>
                  <a:tcPr/>
                </a:tc>
                <a:extLst>
                  <a:ext uri="{0D108BD9-81ED-4DB2-BD59-A6C34878D82A}">
                    <a16:rowId xmlns:a16="http://schemas.microsoft.com/office/drawing/2014/main" val="4176743462"/>
                  </a:ext>
                </a:extLst>
              </a:tr>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Hawker Sea Fury TMK 20</a:t>
                      </a:r>
                    </a:p>
                    <a:p>
                      <a:endParaRPr lang="en-US" dirty="0"/>
                    </a:p>
                  </a:txBody>
                  <a:tcPr/>
                </a:tc>
                <a:tc>
                  <a:txBody>
                    <a:bodyPr/>
                    <a:lstStyle/>
                    <a:p>
                      <a:r>
                        <a:rPr lang="en-US" dirty="0"/>
                        <a:t>No</a:t>
                      </a:r>
                    </a:p>
                  </a:txBody>
                  <a:tcPr/>
                </a:tc>
                <a:tc>
                  <a:txBody>
                    <a:bodyPr/>
                    <a:lstStyle/>
                    <a:p>
                      <a:r>
                        <a:rPr lang="en-US" dirty="0"/>
                        <a:t>Lowest</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Private</a:t>
                      </a:r>
                      <a:endParaRPr lang="en-US" dirty="0"/>
                    </a:p>
                    <a:p>
                      <a:endParaRPr lang="en-US" dirty="0"/>
                    </a:p>
                  </a:txBody>
                  <a:tcPr/>
                </a:tc>
                <a:extLst>
                  <a:ext uri="{0D108BD9-81ED-4DB2-BD59-A6C34878D82A}">
                    <a16:rowId xmlns:a16="http://schemas.microsoft.com/office/drawing/2014/main" val="2562516109"/>
                  </a:ext>
                </a:extLst>
              </a:tr>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de-DE" dirty="0"/>
                        <a:t>Kolb Twin Star Mark III</a:t>
                      </a:r>
                      <a:endParaRPr lang="en-US" dirty="0"/>
                    </a:p>
                    <a:p>
                      <a:endParaRPr lang="en-US" dirty="0"/>
                    </a:p>
                  </a:txBody>
                  <a:tcPr/>
                </a:tc>
                <a:tc>
                  <a:txBody>
                    <a:bodyPr/>
                    <a:lstStyle/>
                    <a:p>
                      <a:r>
                        <a:rPr lang="en-US" dirty="0"/>
                        <a:t>No</a:t>
                      </a:r>
                    </a:p>
                  </a:txBody>
                  <a:tcPr/>
                </a:tc>
                <a:tc>
                  <a:txBody>
                    <a:bodyPr/>
                    <a:lstStyle/>
                    <a:p>
                      <a:r>
                        <a:rPr lang="en-US" dirty="0"/>
                        <a:t>Low</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Private</a:t>
                      </a:r>
                      <a:endParaRPr lang="en-US" dirty="0"/>
                    </a:p>
                    <a:p>
                      <a:endParaRPr lang="en-US" dirty="0"/>
                    </a:p>
                  </a:txBody>
                  <a:tcPr/>
                </a:tc>
                <a:extLst>
                  <a:ext uri="{0D108BD9-81ED-4DB2-BD59-A6C34878D82A}">
                    <a16:rowId xmlns:a16="http://schemas.microsoft.com/office/drawing/2014/main" val="3623793400"/>
                  </a:ext>
                </a:extLst>
              </a:tr>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Koleno Titan T-51</a:t>
                      </a:r>
                    </a:p>
                    <a:p>
                      <a:endParaRPr lang="en-US" dirty="0"/>
                    </a:p>
                  </a:txBody>
                  <a:tcPr/>
                </a:tc>
                <a:tc>
                  <a:txBody>
                    <a:bodyPr/>
                    <a:lstStyle/>
                    <a:p>
                      <a:r>
                        <a:rPr lang="en-US" dirty="0"/>
                        <a:t>No</a:t>
                      </a:r>
                    </a:p>
                  </a:txBody>
                  <a:tcPr/>
                </a:tc>
                <a:tc>
                  <a:txBody>
                    <a:bodyPr/>
                    <a:lstStyle/>
                    <a:p>
                      <a:r>
                        <a:rPr lang="en-US" dirty="0"/>
                        <a:t>Low</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Private</a:t>
                      </a:r>
                      <a:endParaRPr lang="en-US" dirty="0"/>
                    </a:p>
                    <a:p>
                      <a:endParaRPr lang="en-US" dirty="0"/>
                    </a:p>
                  </a:txBody>
                  <a:tcPr/>
                </a:tc>
                <a:extLst>
                  <a:ext uri="{0D108BD9-81ED-4DB2-BD59-A6C34878D82A}">
                    <a16:rowId xmlns:a16="http://schemas.microsoft.com/office/drawing/2014/main" val="1950483914"/>
                  </a:ext>
                </a:extLst>
              </a:tr>
            </a:tbl>
          </a:graphicData>
        </a:graphic>
      </p:graphicFrame>
      <p:sp>
        <p:nvSpPr>
          <p:cNvPr id="3" name="Title 1">
            <a:extLst>
              <a:ext uri="{FF2B5EF4-FFF2-40B4-BE49-F238E27FC236}">
                <a16:creationId xmlns:a16="http://schemas.microsoft.com/office/drawing/2014/main" id="{1EB18880-62B2-EA49-DE5F-AEACF7FB74F5}"/>
              </a:ext>
            </a:extLst>
          </p:cNvPr>
          <p:cNvSpPr txBox="1">
            <a:spLocks/>
          </p:cNvSpPr>
          <p:nvPr/>
        </p:nvSpPr>
        <p:spPr>
          <a:xfrm>
            <a:off x="375006" y="1243172"/>
            <a:ext cx="8229600" cy="1777429"/>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marL="571500" indent="-571500" algn="l">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Based on the risk assessment, aggregation, and visualization results, we recommend the following aircraft models for acquisition. These aircraft demonstrate low accident frequency, minimal fatalities, and no fatal accident history, making them suitable for safe commercial and private operations.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24697"/>
          </a:xfrm>
        </p:spPr>
        <p:txBody>
          <a:bodyPr>
            <a:normAutofit/>
          </a:bodyPr>
          <a:lstStyle/>
          <a:p>
            <a:pPr algn="ctr"/>
            <a:r>
              <a:rPr lang="en-US" dirty="0">
                <a:latin typeface="Times New Roman" panose="02020603050405020304" pitchFamily="18" charset="0"/>
                <a:cs typeface="Times New Roman" panose="02020603050405020304" pitchFamily="18" charset="0"/>
              </a:rPr>
              <a:t>Make and Model of </a:t>
            </a:r>
            <a:r>
              <a:rPr dirty="0">
                <a:latin typeface="Times New Roman" panose="02020603050405020304" pitchFamily="18" charset="0"/>
                <a:cs typeface="Times New Roman" panose="02020603050405020304" pitchFamily="18" charset="0"/>
              </a:rPr>
              <a:t>Aircraft Use</a:t>
            </a:r>
          </a:p>
        </p:txBody>
      </p:sp>
      <p:graphicFrame>
        <p:nvGraphicFramePr>
          <p:cNvPr id="6" name="Content Placeholder 5">
            <a:extLst>
              <a:ext uri="{FF2B5EF4-FFF2-40B4-BE49-F238E27FC236}">
                <a16:creationId xmlns:a16="http://schemas.microsoft.com/office/drawing/2014/main" id="{AD144F37-912A-598C-6B8D-EB4E2F99DC13}"/>
              </a:ext>
            </a:extLst>
          </p:cNvPr>
          <p:cNvGraphicFramePr>
            <a:graphicFrameLocks noGrp="1"/>
          </p:cNvGraphicFramePr>
          <p:nvPr>
            <p:ph idx="1"/>
            <p:extLst>
              <p:ext uri="{D42A27DB-BD31-4B8C-83A1-F6EECF244321}">
                <p14:modId xmlns:p14="http://schemas.microsoft.com/office/powerpoint/2010/main" val="684261547"/>
              </p:ext>
            </p:extLst>
          </p:nvPr>
        </p:nvGraphicFramePr>
        <p:xfrm>
          <a:off x="354459" y="3084817"/>
          <a:ext cx="8229600" cy="3383280"/>
        </p:xfrm>
        <a:graphic>
          <a:graphicData uri="http://schemas.openxmlformats.org/drawingml/2006/table">
            <a:tbl>
              <a:tblPr firstRow="1" bandRow="1">
                <a:tableStyleId>{5C22544A-7EE6-4342-B048-85BDC9FD1C3A}</a:tableStyleId>
              </a:tblPr>
              <a:tblGrid>
                <a:gridCol w="1645920">
                  <a:extLst>
                    <a:ext uri="{9D8B030D-6E8A-4147-A177-3AD203B41FA5}">
                      <a16:colId xmlns:a16="http://schemas.microsoft.com/office/drawing/2014/main" val="622155437"/>
                    </a:ext>
                  </a:extLst>
                </a:gridCol>
                <a:gridCol w="1645920">
                  <a:extLst>
                    <a:ext uri="{9D8B030D-6E8A-4147-A177-3AD203B41FA5}">
                      <a16:colId xmlns:a16="http://schemas.microsoft.com/office/drawing/2014/main" val="2279451896"/>
                    </a:ext>
                  </a:extLst>
                </a:gridCol>
                <a:gridCol w="1645920">
                  <a:extLst>
                    <a:ext uri="{9D8B030D-6E8A-4147-A177-3AD203B41FA5}">
                      <a16:colId xmlns:a16="http://schemas.microsoft.com/office/drawing/2014/main" val="682254665"/>
                    </a:ext>
                  </a:extLst>
                </a:gridCol>
                <a:gridCol w="1645920">
                  <a:extLst>
                    <a:ext uri="{9D8B030D-6E8A-4147-A177-3AD203B41FA5}">
                      <a16:colId xmlns:a16="http://schemas.microsoft.com/office/drawing/2014/main" val="1275848657"/>
                    </a:ext>
                  </a:extLst>
                </a:gridCol>
                <a:gridCol w="1645920">
                  <a:extLst>
                    <a:ext uri="{9D8B030D-6E8A-4147-A177-3AD203B41FA5}">
                      <a16:colId xmlns:a16="http://schemas.microsoft.com/office/drawing/2014/main" val="3321601666"/>
                    </a:ext>
                  </a:extLst>
                </a:gridCol>
              </a:tblGrid>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Make</a:t>
                      </a:r>
                    </a:p>
                    <a:p>
                      <a:endParaRPr lang="en-US"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Model</a:t>
                      </a:r>
                    </a:p>
                    <a:p>
                      <a:endParaRPr lang="en-US"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Risk Score</a:t>
                      </a:r>
                    </a:p>
                    <a:p>
                      <a:endParaRPr lang="en-US"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Accidents</a:t>
                      </a:r>
                    </a:p>
                    <a:p>
                      <a:endParaRPr lang="en-US"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Fatal History</a:t>
                      </a:r>
                    </a:p>
                    <a:p>
                      <a:endParaRPr lang="en-US" dirty="0"/>
                    </a:p>
                  </a:txBody>
                  <a:tcPr/>
                </a:tc>
                <a:extLst>
                  <a:ext uri="{0D108BD9-81ED-4DB2-BD59-A6C34878D82A}">
                    <a16:rowId xmlns:a16="http://schemas.microsoft.com/office/drawing/2014/main" val="580889854"/>
                  </a:ext>
                </a:extLst>
              </a:tr>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HENRIE RAYMOND</a:t>
                      </a:r>
                      <a:endParaRPr lang="en-US" dirty="0"/>
                    </a:p>
                    <a:p>
                      <a:endParaRPr lang="en-US"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ZENITH CH 701 STOL</a:t>
                      </a:r>
                      <a:endParaRPr lang="en-US" dirty="0"/>
                    </a:p>
                    <a:p>
                      <a:endParaRPr lang="en-US" dirty="0"/>
                    </a:p>
                  </a:txBody>
                  <a:tcPr/>
                </a:tc>
                <a:tc>
                  <a:txBody>
                    <a:bodyPr/>
                    <a:lstStyle/>
                    <a:p>
                      <a:r>
                        <a:rPr lang="en-US" dirty="0"/>
                        <a:t>1.0</a:t>
                      </a:r>
                    </a:p>
                  </a:txBody>
                  <a:tcPr/>
                </a:tc>
                <a:tc>
                  <a:txBody>
                    <a:bodyPr/>
                    <a:lstStyle/>
                    <a:p>
                      <a:r>
                        <a:rPr lang="en-US" dirty="0"/>
                        <a:t>1</a:t>
                      </a:r>
                    </a:p>
                  </a:txBody>
                  <a:tcPr/>
                </a:tc>
                <a:tc>
                  <a:txBody>
                    <a:bodyPr/>
                    <a:lstStyle/>
                    <a:p>
                      <a:r>
                        <a:rPr lang="en-US" dirty="0"/>
                        <a:t>No</a:t>
                      </a:r>
                    </a:p>
                  </a:txBody>
                  <a:tcPr/>
                </a:tc>
                <a:extLst>
                  <a:ext uri="{0D108BD9-81ED-4DB2-BD59-A6C34878D82A}">
                    <a16:rowId xmlns:a16="http://schemas.microsoft.com/office/drawing/2014/main" val="2628036203"/>
                  </a:ext>
                </a:extLst>
              </a:tr>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Kirby</a:t>
                      </a:r>
                      <a:endParaRPr lang="en-US" dirty="0"/>
                    </a:p>
                    <a:p>
                      <a:endParaRPr lang="en-US"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Christen Eagle</a:t>
                      </a:r>
                      <a:endParaRPr lang="en-US" dirty="0"/>
                    </a:p>
                    <a:p>
                      <a:endParaRPr lang="en-US" dirty="0"/>
                    </a:p>
                  </a:txBody>
                  <a:tcPr/>
                </a:tc>
                <a:tc>
                  <a:txBody>
                    <a:bodyPr/>
                    <a:lstStyle/>
                    <a:p>
                      <a:r>
                        <a:rPr lang="en-US" dirty="0"/>
                        <a:t>1.0</a:t>
                      </a:r>
                    </a:p>
                  </a:txBody>
                  <a:tcPr/>
                </a:tc>
                <a:tc>
                  <a:txBody>
                    <a:bodyPr/>
                    <a:lstStyle/>
                    <a:p>
                      <a:r>
                        <a:rPr lang="en-US" dirty="0"/>
                        <a:t>1</a:t>
                      </a:r>
                    </a:p>
                  </a:txBody>
                  <a:tcPr/>
                </a:tc>
                <a:tc>
                  <a:txBody>
                    <a:bodyPr/>
                    <a:lstStyle/>
                    <a:p>
                      <a:r>
                        <a:rPr lang="en-US" dirty="0"/>
                        <a:t>No</a:t>
                      </a:r>
                    </a:p>
                  </a:txBody>
                  <a:tcPr/>
                </a:tc>
                <a:extLst>
                  <a:ext uri="{0D108BD9-81ED-4DB2-BD59-A6C34878D82A}">
                    <a16:rowId xmlns:a16="http://schemas.microsoft.com/office/drawing/2014/main" val="2406849079"/>
                  </a:ext>
                </a:extLst>
              </a:tr>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Kirchner</a:t>
                      </a:r>
                      <a:endParaRPr lang="en-US" dirty="0"/>
                    </a:p>
                    <a:p>
                      <a:endParaRPr lang="en-US"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b="0" i="0" kern="1200" dirty="0" err="1">
                          <a:solidFill>
                            <a:schemeClr val="dk1"/>
                          </a:solidFill>
                          <a:effectLst/>
                          <a:latin typeface="+mn-lt"/>
                          <a:ea typeface="+mn-ea"/>
                          <a:cs typeface="+mn-cs"/>
                        </a:rPr>
                        <a:t>Pietenpol</a:t>
                      </a:r>
                      <a:r>
                        <a:rPr lang="en-US" sz="1800" b="0" i="0" kern="1200" dirty="0">
                          <a:solidFill>
                            <a:schemeClr val="dk1"/>
                          </a:solidFill>
                          <a:effectLst/>
                          <a:latin typeface="+mn-lt"/>
                          <a:ea typeface="+mn-ea"/>
                          <a:cs typeface="+mn-cs"/>
                        </a:rPr>
                        <a:t> </a:t>
                      </a:r>
                      <a:r>
                        <a:rPr lang="en-US" sz="1800" b="0" i="0" kern="1200" dirty="0" err="1">
                          <a:solidFill>
                            <a:schemeClr val="dk1"/>
                          </a:solidFill>
                          <a:effectLst/>
                          <a:latin typeface="+mn-lt"/>
                          <a:ea typeface="+mn-ea"/>
                          <a:cs typeface="+mn-cs"/>
                        </a:rPr>
                        <a:t>Aircamper</a:t>
                      </a:r>
                      <a:endParaRPr lang="en-US" dirty="0"/>
                    </a:p>
                    <a:p>
                      <a:endParaRPr lang="en-US" dirty="0"/>
                    </a:p>
                  </a:txBody>
                  <a:tcPr/>
                </a:tc>
                <a:tc>
                  <a:txBody>
                    <a:bodyPr/>
                    <a:lstStyle/>
                    <a:p>
                      <a:r>
                        <a:rPr lang="en-US" dirty="0"/>
                        <a:t>1.0</a:t>
                      </a:r>
                    </a:p>
                  </a:txBody>
                  <a:tcPr/>
                </a:tc>
                <a:tc>
                  <a:txBody>
                    <a:bodyPr/>
                    <a:lstStyle/>
                    <a:p>
                      <a:r>
                        <a:rPr lang="en-US" dirty="0"/>
                        <a:t>1</a:t>
                      </a:r>
                    </a:p>
                  </a:txBody>
                  <a:tcPr/>
                </a:tc>
                <a:tc>
                  <a:txBody>
                    <a:bodyPr/>
                    <a:lstStyle/>
                    <a:p>
                      <a:r>
                        <a:rPr lang="en-US" dirty="0"/>
                        <a:t>No</a:t>
                      </a:r>
                    </a:p>
                  </a:txBody>
                  <a:tcPr/>
                </a:tc>
                <a:extLst>
                  <a:ext uri="{0D108BD9-81ED-4DB2-BD59-A6C34878D82A}">
                    <a16:rowId xmlns:a16="http://schemas.microsoft.com/office/drawing/2014/main" val="2531071334"/>
                  </a:ext>
                </a:extLst>
              </a:tr>
            </a:tbl>
          </a:graphicData>
        </a:graphic>
      </p:graphicFrame>
      <p:sp>
        <p:nvSpPr>
          <p:cNvPr id="3" name="Title 1">
            <a:extLst>
              <a:ext uri="{FF2B5EF4-FFF2-40B4-BE49-F238E27FC236}">
                <a16:creationId xmlns:a16="http://schemas.microsoft.com/office/drawing/2014/main" id="{2B488E83-C8C0-A464-7F5B-14FEA98B741A}"/>
              </a:ext>
            </a:extLst>
          </p:cNvPr>
          <p:cNvSpPr txBox="1">
            <a:spLocks/>
          </p:cNvSpPr>
          <p:nvPr/>
        </p:nvSpPr>
        <p:spPr>
          <a:xfrm>
            <a:off x="457200" y="1099335"/>
            <a:ext cx="8229600" cy="1767155"/>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marL="571500" indent="-571500" algn="l">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Based on the risk assessment, aggregation, and visualization results, we recommend the following aircraft models for acquisition. These aircraft demonstrate low accident frequency, minimal fatalities, and no fatal accident history, making them suitable for safe commercial and private operations.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dirty="0">
                <a:latin typeface="Times New Roman" panose="02020603050405020304" pitchFamily="18" charset="0"/>
                <a:cs typeface="Times New Roman" panose="02020603050405020304" pitchFamily="18" charset="0"/>
              </a:rPr>
              <a:t>Business Recommendations</a:t>
            </a:r>
          </a:p>
        </p:txBody>
      </p:sp>
      <p:sp>
        <p:nvSpPr>
          <p:cNvPr id="3" name="Content Placeholder 2"/>
          <p:cNvSpPr>
            <a:spLocks noGrp="1"/>
          </p:cNvSpPr>
          <p:nvPr>
            <p:ph idx="1"/>
          </p:nvPr>
        </p:nvSpPr>
        <p:spPr>
          <a:xfrm>
            <a:off x="792479" y="1602325"/>
            <a:ext cx="6347714" cy="3880773"/>
          </a:xfrm>
        </p:spPr>
        <p:txBody>
          <a:bodyPr>
            <a:normAutofit fontScale="92500" lnSpcReduction="20000"/>
          </a:bodyPr>
          <a:lstStyle/>
          <a:p>
            <a:pPr marL="0" indent="0">
              <a:buNone/>
            </a:pPr>
            <a:r>
              <a:rPr lang="en-US" sz="2400" b="1" dirty="0">
                <a:latin typeface="Times New Roman" panose="02020603050405020304" pitchFamily="18" charset="0"/>
                <a:cs typeface="Times New Roman" panose="02020603050405020304" pitchFamily="18" charset="0"/>
              </a:rPr>
              <a:t>Final Recommended Aircraft Models</a:t>
            </a: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Based on the analysis, the lowest-risk aircraft models identified are:</a:t>
            </a:r>
          </a:p>
          <a:p>
            <a:pPr marL="0" indent="0">
              <a:buNone/>
            </a:pPr>
            <a:endParaRPr lang="en-US" sz="2400" b="1" dirty="0">
              <a:latin typeface="Times New Roman" panose="02020603050405020304" pitchFamily="18" charset="0"/>
              <a:cs typeface="Times New Roman" panose="02020603050405020304" pitchFamily="18" charset="0"/>
            </a:endParaRPr>
          </a:p>
          <a:p>
            <a:pPr marL="514350" indent="-514350">
              <a:buFont typeface="+mj-lt"/>
              <a:buAutoNum type="arabicPeriod"/>
            </a:pPr>
            <a:r>
              <a:rPr lang="en-US" sz="2400" b="1" dirty="0">
                <a:latin typeface="Times New Roman" panose="02020603050405020304" pitchFamily="18" charset="0"/>
                <a:cs typeface="Times New Roman" panose="02020603050405020304" pitchFamily="18" charset="0"/>
              </a:rPr>
              <a:t>Hawker Sea Fury T Mk 20.</a:t>
            </a:r>
          </a:p>
          <a:p>
            <a:pPr marL="514350" indent="-514350">
              <a:buFont typeface="+mj-lt"/>
              <a:buAutoNum type="arabicPeriod"/>
            </a:pPr>
            <a:r>
              <a:rPr lang="en-US" sz="2400" b="1" dirty="0">
                <a:latin typeface="Times New Roman" panose="02020603050405020304" pitchFamily="18" charset="0"/>
                <a:cs typeface="Times New Roman" panose="02020603050405020304" pitchFamily="18" charset="0"/>
              </a:rPr>
              <a:t>Kolb Twin Star Mark III.</a:t>
            </a:r>
          </a:p>
          <a:p>
            <a:pPr marL="514350" indent="-514350">
              <a:buFont typeface="+mj-lt"/>
              <a:buAutoNum type="arabicPeriod"/>
            </a:pPr>
            <a:r>
              <a:rPr lang="en-US" sz="2400" b="1" dirty="0">
                <a:latin typeface="Times New Roman" panose="02020603050405020304" pitchFamily="18" charset="0"/>
                <a:cs typeface="Times New Roman" panose="02020603050405020304" pitchFamily="18" charset="0"/>
              </a:rPr>
              <a:t>Koleno Titan T-51.</a:t>
            </a:r>
          </a:p>
          <a:p>
            <a:pPr marL="0" indent="0">
              <a:buNone/>
            </a:pP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These aircraft have the lowest risk scores and no fatal accident history, making them strong candidates for initial investment.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Thank you for reading to the end</a:t>
            </a:r>
            <a:endParaRPr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09599" y="1366463"/>
            <a:ext cx="6347714" cy="4602822"/>
          </a:xfrm>
        </p:spPr>
        <p:txBody>
          <a:bodyPr>
            <a:noAutofit/>
          </a:bodyPr>
          <a:lstStyle/>
          <a:p>
            <a:pPr marL="0" indent="0">
              <a:buNone/>
            </a:pPr>
            <a:r>
              <a:rPr lang="en-US" sz="1600" dirty="0">
                <a:latin typeface="Times New Roman" panose="02020603050405020304" pitchFamily="18" charset="0"/>
                <a:cs typeface="Times New Roman" panose="02020603050405020304" pitchFamily="18" charset="0"/>
              </a:rPr>
              <a:t>Implementing these recommendations will allow the company to enter the aviation sector with reduced risk.</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Data-driven aircraft selection lowers the likelihood of accidents, protects the company’s brand, and supports long-term operational sustainability.</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This approach also establishes a repeatable framework for future aviation investments.</a:t>
            </a:r>
          </a:p>
          <a:p>
            <a:pPr marL="0" indent="0">
              <a:buNone/>
            </a:pPr>
            <a:r>
              <a:rPr lang="en-US" sz="1600" dirty="0">
                <a:latin typeface="Times New Roman" panose="02020603050405020304" pitchFamily="18" charset="0"/>
                <a:cs typeface="Times New Roman" panose="02020603050405020304" pitchFamily="18" charset="0"/>
              </a:rPr>
              <a:t>Thank you for your time and attention.</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I welcome any questions and would be happy to discuss the analysis or recommendations in more detail.</a:t>
            </a:r>
            <a:endParaRPr sz="1600" dirty="0">
              <a:latin typeface="Times New Roman" panose="02020603050405020304" pitchFamily="18" charset="0"/>
              <a:cs typeface="Times New Roman" panose="02020603050405020304" pitchFamily="18" charset="0"/>
            </a:endParaRPr>
          </a:p>
          <a:p>
            <a:pPr marL="0" indent="0">
              <a:buNone/>
            </a:pPr>
            <a:r>
              <a:rPr lang="en-US" sz="1600" dirty="0">
                <a:latin typeface="Times New Roman" panose="02020603050405020304" pitchFamily="18" charset="0"/>
                <a:cs typeface="Times New Roman" panose="02020603050405020304" pitchFamily="18" charset="0"/>
              </a:rPr>
              <a:t>Abel Aleu Chol Garang</a:t>
            </a:r>
            <a:r>
              <a:rPr sz="1600" dirty="0">
                <a:latin typeface="Times New Roman" panose="02020603050405020304" pitchFamily="18" charset="0"/>
                <a:cs typeface="Times New Roman" panose="02020603050405020304" pitchFamily="18" charset="0"/>
              </a:rPr>
              <a:t> | </a:t>
            </a:r>
            <a:r>
              <a:rPr lang="en-US" sz="1600" dirty="0">
                <a:latin typeface="Times New Roman" panose="02020603050405020304" pitchFamily="18" charset="0"/>
                <a:cs typeface="Times New Roman" panose="02020603050405020304" pitchFamily="18" charset="0"/>
              </a:rPr>
              <a:t>LinkedIn (</a:t>
            </a:r>
            <a:r>
              <a:rPr lang="en-US" sz="1600" u="sng" dirty="0">
                <a:latin typeface="Times New Roman" panose="02020603050405020304" pitchFamily="18" charset="0"/>
                <a:cs typeface="Times New Roman" panose="02020603050405020304" pitchFamily="18" charset="0"/>
              </a:rPr>
              <a:t>https://www.linkedin.com/in/abel-aleu-941799247?lipi=urn%3Ali%3Apage%3Ad_flagship3_profile_view_base_contact_details%3BByYx6s9aQ7WQv%2FXWyVZvOA%3D%3D</a:t>
            </a:r>
            <a:r>
              <a:rPr lang="en-US" sz="1600" dirty="0">
                <a:latin typeface="Times New Roman" panose="02020603050405020304" pitchFamily="18" charset="0"/>
                <a:cs typeface="Times New Roman" panose="02020603050405020304" pitchFamily="18" charset="0"/>
              </a:rPr>
              <a:t>)</a:t>
            </a:r>
          </a:p>
          <a:p>
            <a:pPr marL="0" indent="0">
              <a:buNone/>
            </a:pPr>
            <a:r>
              <a:rPr sz="1600" dirty="0">
                <a:latin typeface="Times New Roman" panose="02020603050405020304" pitchFamily="18" charset="0"/>
                <a:cs typeface="Times New Roman" panose="02020603050405020304" pitchFamily="18" charset="0"/>
              </a:rPr>
              <a:t> | GitHub</a:t>
            </a:r>
          </a:p>
        </p:txBody>
      </p:sp>
    </p:spTree>
  </p:cSld>
  <p:clrMapOvr>
    <a:masterClrMapping/>
  </p:clrMapOvr>
</p:sld>
</file>

<file path=ppt/theme/theme1.xml><?xml version="1.0" encoding="utf-8"?>
<a:theme xmlns:a="http://schemas.openxmlformats.org/drawingml/2006/main" name="Facet">
  <a:themeElements>
    <a:clrScheme name="Blue-Orange Theme">
      <a:dk1>
        <a:sysClr val="windowText" lastClr="000000"/>
      </a:dk1>
      <a:lt1>
        <a:sysClr val="window" lastClr="FFFFFF"/>
      </a:lt1>
      <a:dk2>
        <a:srgbClr val="1F497D"/>
      </a:dk2>
      <a:lt2>
        <a:srgbClr val="EEECE1"/>
      </a:lt2>
      <a:accent1>
        <a:srgbClr val="1F4FD8"/>
      </a:accent1>
      <a:accent2>
        <a:srgbClr val="F59E0B"/>
      </a:accent2>
      <a:accent3>
        <a:srgbClr val="9BBB59"/>
      </a:accent3>
      <a:accent4>
        <a:srgbClr val="8064A2"/>
      </a:accent4>
      <a:accent5>
        <a:srgbClr val="4BACC6"/>
      </a:accent5>
      <a:accent6>
        <a:srgbClr val="F79646"/>
      </a:accent6>
      <a:hlink>
        <a:srgbClr val="0000FF"/>
      </a:hlink>
      <a:folHlink>
        <a:srgbClr val="800080"/>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629</TotalTime>
  <Words>1247</Words>
  <Application>Microsoft Office PowerPoint</Application>
  <PresentationFormat>On-screen Show (4:3)</PresentationFormat>
  <Paragraphs>159</Paragraphs>
  <Slides>25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Arial</vt:lpstr>
      <vt:lpstr>Times New Roman</vt:lpstr>
      <vt:lpstr>Trebuchet MS</vt:lpstr>
      <vt:lpstr>Wingdings</vt:lpstr>
      <vt:lpstr>Wingdings 3</vt:lpstr>
      <vt:lpstr>Facet</vt:lpstr>
      <vt:lpstr>Aircraft With Lowest Risk For Business Expansion Phase 1 Project</vt:lpstr>
      <vt:lpstr>Business Understanding</vt:lpstr>
      <vt:lpstr>Data Understanding</vt:lpstr>
      <vt:lpstr>Data Cleaning &amp; Preparation</vt:lpstr>
      <vt:lpstr>Exploratory Data Analysis</vt:lpstr>
      <vt:lpstr>Accident Frequency by Aircraft Category</vt:lpstr>
      <vt:lpstr>Aviation Accidents Over Time </vt:lpstr>
      <vt:lpstr>Aircraft Make Risk Exposure </vt:lpstr>
      <vt:lpstr>Fatal accidents represent a small fraction of total incidents, but they remain high-impact events critical for risk assessment. </vt:lpstr>
      <vt:lpstr>Aircraft Model Risk Exposure</vt:lpstr>
      <vt:lpstr>Aircraft Risk Visualization</vt:lpstr>
      <vt:lpstr>Distribution of Total Accidents Among Aircraft Models  </vt:lpstr>
      <vt:lpstr>Risk Score Comparison of Aircraft Model</vt:lpstr>
      <vt:lpstr>Distribution Engine type vs fatal accidents</vt:lpstr>
      <vt:lpstr>Relationship Between Total Accidents and Fatalities</vt:lpstr>
      <vt:lpstr>Fatal vs Non-Fatal History in Lowest-Risk Aircraft</vt:lpstr>
      <vt:lpstr>Risk Score Comparison of Aircraft Model</vt:lpstr>
      <vt:lpstr>Distribution of Fatal History in Lowest-Risk Aircraft</vt:lpstr>
      <vt:lpstr>Risk Visualization Summary</vt:lpstr>
      <vt:lpstr>Interactive Tableau Dashboard</vt:lpstr>
      <vt:lpstr>Business Recommendations</vt:lpstr>
      <vt:lpstr>Top 3 Safest Aircraft Models</vt:lpstr>
      <vt:lpstr>Make and Model of Aircraft Use</vt:lpstr>
      <vt:lpstr>Business Recommendations</vt:lpstr>
      <vt:lpstr>Thank you for reading to the end</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ALEU' STEPHEN CHOL</dc:creator>
  <cp:keywords/>
  <dc:description>generated using python-pptx</dc:description>
  <cp:lastModifiedBy>DELL</cp:lastModifiedBy>
  <cp:revision>126</cp:revision>
  <dcterms:created xsi:type="dcterms:W3CDTF">2013-01-27T09:14:16Z</dcterms:created>
  <dcterms:modified xsi:type="dcterms:W3CDTF">2025-12-20T19:40:00Z</dcterms:modified>
  <cp:category/>
</cp:coreProperties>
</file>